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96">
          <p15:clr>
            <a:srgbClr val="747775"/>
          </p15:clr>
        </p15:guide>
        <p15:guide id="2" orient="horz" pos="3212">
          <p15:clr>
            <a:srgbClr val="747775"/>
          </p15:clr>
        </p15:guide>
        <p15:guide id="3" orient="horz" pos="209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96" orient="horz"/>
        <p:guide pos="3212" orient="horz"/>
        <p:guide pos="2091"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e2593e9b49_4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e2593e9b49_4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e2593e9b49_4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2593e9b49_4_8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3e2593e9b49_4_8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e2593e9b49_4_8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2593e9b49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3e2593e9b49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3e2593e9b49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e2593e9b49_0_6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3e2593e9b49_0_6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3e2593e9b49_0_6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e2593e9b49_0_10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g3e2593e9b49_0_10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g3e2593e9b49_0_10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e2593e9b49_0_15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3e2593e9b49_0_15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g3e2593e9b49_0_15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e2593e9b49_0_2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g3e2593e9b49_0_25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g3e2593e9b49_0_25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e2593e9b49_0_30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3e2593e9b49_0_30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g3e2593e9b49_0_30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e2593e9b49_0_3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g3e2593e9b49_0_34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g3e2593e9b49_0_34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e2593e9b49_0_44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g3e2593e9b49_0_44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g3e2593e9b49_0_44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e2593e9b49_0_49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g3e2593e9b49_0_49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g3e2593e9b49_0_49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e2593e9b49_0_5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1" name="Google Shape;631;g3e2593e9b49_0_54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g3e2593e9b49_0_54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e2593e9b49_0_68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g3e2593e9b49_0_68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g3e2593e9b49_0_68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e2593e9b49_0_59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e2593e9b49_0_59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 name="Google Shape;715;g3e2593e9b49_0_59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l"/>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1A"/>
        </a:solidFill>
      </p:bgPr>
    </p:bg>
    <p:spTree>
      <p:nvGrpSpPr>
        <p:cNvPr id="56" name="Shape 56"/>
        <p:cNvGrpSpPr/>
        <p:nvPr/>
      </p:nvGrpSpPr>
      <p:grpSpPr>
        <a:xfrm>
          <a:off x="0" y="0"/>
          <a:ext cx="0" cy="0"/>
          <a:chOff x="0" y="0"/>
          <a:chExt cx="0" cy="0"/>
        </a:xfrm>
      </p:grpSpPr>
      <p:sp>
        <p:nvSpPr>
          <p:cNvPr id="57" name="Google Shape;57;p15"/>
          <p:cNvSpPr/>
          <p:nvPr/>
        </p:nvSpPr>
        <p:spPr>
          <a:xfrm>
            <a:off x="6217920" y="-731520"/>
            <a:ext cx="3291840" cy="3291840"/>
          </a:xfrm>
          <a:prstGeom prst="ellipse">
            <a:avLst/>
          </a:prstGeom>
          <a:solidFill>
            <a:srgbClr val="00C2A8">
              <a:alpha val="25098"/>
            </a:srgbClr>
          </a:solidFill>
          <a:ln cap="flat" cmpd="sng" w="19050">
            <a:solidFill>
              <a:srgbClr val="00C2A8">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p:nvPr/>
        </p:nvSpPr>
        <p:spPr>
          <a:xfrm>
            <a:off x="7680960" y="1371600"/>
            <a:ext cx="1828800" cy="1828800"/>
          </a:xfrm>
          <a:prstGeom prst="ellipse">
            <a:avLst/>
          </a:prstGeom>
          <a:solidFill>
            <a:srgbClr val="7B5EA7">
              <a:alpha val="34901"/>
            </a:srgbClr>
          </a:solidFill>
          <a:ln cap="flat" cmpd="sng" w="19050">
            <a:solidFill>
              <a:srgbClr val="7B5EA7">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5"/>
          <p:cNvSpPr/>
          <p:nvPr/>
        </p:nvSpPr>
        <p:spPr>
          <a:xfrm>
            <a:off x="6583680" y="2743200"/>
            <a:ext cx="1097280" cy="1097280"/>
          </a:xfrm>
          <a:prstGeom prst="ellipse">
            <a:avLst/>
          </a:prstGeom>
          <a:solidFill>
            <a:srgbClr val="F5C542">
              <a:alpha val="30196"/>
            </a:srgbClr>
          </a:solidFill>
          <a:ln cap="flat" cmpd="sng" w="19050">
            <a:solidFill>
              <a:srgbClr val="F5C542">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5"/>
          <p:cNvSpPr/>
          <p:nvPr/>
        </p:nvSpPr>
        <p:spPr>
          <a:xfrm>
            <a:off x="7132320" y="-182880"/>
            <a:ext cx="731520" cy="731520"/>
          </a:xfrm>
          <a:prstGeom prst="ellipse">
            <a:avLst/>
          </a:prstGeom>
          <a:solidFill>
            <a:srgbClr val="00C2A8">
              <a:alpha val="40000"/>
            </a:srgbClr>
          </a:solidFill>
          <a:ln cap="flat" cmpd="sng" w="19050">
            <a:solidFill>
              <a:srgbClr val="00C2A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5"/>
          <p:cNvSpPr/>
          <p:nvPr/>
        </p:nvSpPr>
        <p:spPr>
          <a:xfrm>
            <a:off x="274320" y="36576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5"/>
          <p:cNvSpPr/>
          <p:nvPr/>
        </p:nvSpPr>
        <p:spPr>
          <a:xfrm>
            <a:off x="658368" y="36576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5"/>
          <p:cNvSpPr/>
          <p:nvPr/>
        </p:nvSpPr>
        <p:spPr>
          <a:xfrm>
            <a:off x="1042416" y="36576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p:nvPr/>
        </p:nvSpPr>
        <p:spPr>
          <a:xfrm>
            <a:off x="1426464" y="36576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a:off x="1810512" y="36576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5"/>
          <p:cNvSpPr/>
          <p:nvPr/>
        </p:nvSpPr>
        <p:spPr>
          <a:xfrm>
            <a:off x="2194560" y="36576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a:off x="274320" y="74980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p:nvPr/>
        </p:nvSpPr>
        <p:spPr>
          <a:xfrm>
            <a:off x="658368" y="74980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p:nvPr/>
        </p:nvSpPr>
        <p:spPr>
          <a:xfrm>
            <a:off x="1042416" y="74980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a:off x="1426464" y="74980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
          <p:cNvSpPr/>
          <p:nvPr/>
        </p:nvSpPr>
        <p:spPr>
          <a:xfrm>
            <a:off x="1810512" y="74980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a:off x="2194560" y="74980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p:nvPr/>
        </p:nvSpPr>
        <p:spPr>
          <a:xfrm>
            <a:off x="274320" y="1133856"/>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5"/>
          <p:cNvSpPr/>
          <p:nvPr/>
        </p:nvSpPr>
        <p:spPr>
          <a:xfrm>
            <a:off x="658368" y="1133856"/>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p:nvPr/>
        </p:nvSpPr>
        <p:spPr>
          <a:xfrm>
            <a:off x="1042416" y="1133856"/>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a:off x="1426464" y="1133856"/>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a:off x="1810512" y="1133856"/>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p:nvPr/>
        </p:nvSpPr>
        <p:spPr>
          <a:xfrm>
            <a:off x="2194560" y="1133856"/>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5"/>
          <p:cNvSpPr/>
          <p:nvPr/>
        </p:nvSpPr>
        <p:spPr>
          <a:xfrm>
            <a:off x="274320" y="1517904"/>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a:off x="658368" y="1517904"/>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a:off x="1042416" y="1517904"/>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a:off x="1426464" y="1517904"/>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a:off x="1810512" y="1517904"/>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5"/>
          <p:cNvSpPr/>
          <p:nvPr/>
        </p:nvSpPr>
        <p:spPr>
          <a:xfrm>
            <a:off x="2194560" y="1517904"/>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a:off x="274320" y="1901952"/>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a:off x="658368" y="1901952"/>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p:nvPr/>
        </p:nvSpPr>
        <p:spPr>
          <a:xfrm>
            <a:off x="1042416" y="1901952"/>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a:off x="1426464" y="1901952"/>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1810512" y="1901952"/>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2194560" y="1901952"/>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a:off x="274320" y="228600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a:off x="658368" y="228600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a:off x="1042416" y="228600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p:nvPr/>
        </p:nvSpPr>
        <p:spPr>
          <a:xfrm>
            <a:off x="1426464" y="228600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p:cNvSpPr/>
          <p:nvPr/>
        </p:nvSpPr>
        <p:spPr>
          <a:xfrm>
            <a:off x="1810512" y="228600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
          <p:cNvSpPr/>
          <p:nvPr/>
        </p:nvSpPr>
        <p:spPr>
          <a:xfrm>
            <a:off x="2194560" y="228600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a:off x="274320" y="267004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a:off x="658368" y="267004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p:nvPr/>
        </p:nvSpPr>
        <p:spPr>
          <a:xfrm>
            <a:off x="1042416" y="267004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5"/>
          <p:cNvSpPr/>
          <p:nvPr/>
        </p:nvSpPr>
        <p:spPr>
          <a:xfrm>
            <a:off x="1426464" y="267004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a:off x="1810512" y="267004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2194560" y="267004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274320" y="3054096"/>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658368" y="3054096"/>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5"/>
          <p:cNvSpPr/>
          <p:nvPr/>
        </p:nvSpPr>
        <p:spPr>
          <a:xfrm>
            <a:off x="1042416" y="3054096"/>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
          <p:cNvSpPr/>
          <p:nvPr/>
        </p:nvSpPr>
        <p:spPr>
          <a:xfrm>
            <a:off x="1426464" y="3054096"/>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5"/>
          <p:cNvSpPr/>
          <p:nvPr/>
        </p:nvSpPr>
        <p:spPr>
          <a:xfrm>
            <a:off x="1810512" y="3054096"/>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a:off x="2194560" y="3054096"/>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a:off x="274320" y="3438144"/>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a:off x="658368" y="3438144"/>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a:off x="1042416" y="3438144"/>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1426464" y="3438144"/>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1810512" y="3438144"/>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2194560" y="3438144"/>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274320" y="3822192"/>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658368" y="3822192"/>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a:off x="1042416" y="3822192"/>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a:off x="1426464" y="3822192"/>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5"/>
          <p:cNvSpPr/>
          <p:nvPr/>
        </p:nvSpPr>
        <p:spPr>
          <a:xfrm>
            <a:off x="1810512" y="3822192"/>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a:off x="2194560" y="3822192"/>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a:off x="274320" y="420624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p:cNvSpPr/>
          <p:nvPr/>
        </p:nvSpPr>
        <p:spPr>
          <a:xfrm>
            <a:off x="658368" y="420624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p:nvPr/>
        </p:nvSpPr>
        <p:spPr>
          <a:xfrm>
            <a:off x="1042416" y="420624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1426464" y="420624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a:off x="1810512" y="420624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5"/>
          <p:cNvSpPr/>
          <p:nvPr/>
        </p:nvSpPr>
        <p:spPr>
          <a:xfrm>
            <a:off x="2194560" y="4206240"/>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5"/>
          <p:cNvSpPr/>
          <p:nvPr/>
        </p:nvSpPr>
        <p:spPr>
          <a:xfrm>
            <a:off x="274320" y="459028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a:off x="658368" y="459028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a:off x="1042416" y="459028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5"/>
          <p:cNvSpPr/>
          <p:nvPr/>
        </p:nvSpPr>
        <p:spPr>
          <a:xfrm>
            <a:off x="1426464" y="459028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5"/>
          <p:cNvSpPr/>
          <p:nvPr/>
        </p:nvSpPr>
        <p:spPr>
          <a:xfrm>
            <a:off x="1810512" y="459028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5"/>
          <p:cNvSpPr/>
          <p:nvPr/>
        </p:nvSpPr>
        <p:spPr>
          <a:xfrm>
            <a:off x="2194560" y="4590288"/>
            <a:ext cx="54864" cy="54864"/>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
          <p:cNvSpPr/>
          <p:nvPr/>
        </p:nvSpPr>
        <p:spPr>
          <a:xfrm>
            <a:off x="0" y="0"/>
            <a:ext cx="164592" cy="51435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5"/>
          <p:cNvSpPr/>
          <p:nvPr/>
        </p:nvSpPr>
        <p:spPr>
          <a:xfrm>
            <a:off x="502925" y="196826"/>
            <a:ext cx="6400800" cy="26970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FFFFFF"/>
              </a:buClr>
              <a:buSzPts val="4400"/>
              <a:buFont typeface="Calibri"/>
              <a:buNone/>
            </a:pPr>
            <a:r>
              <a:rPr b="1" lang="pl" sz="4400">
                <a:solidFill>
                  <a:srgbClr val="FFFFFF"/>
                </a:solidFill>
                <a:latin typeface="Calibri"/>
                <a:ea typeface="Calibri"/>
                <a:cs typeface="Calibri"/>
                <a:sym typeface="Calibri"/>
              </a:rPr>
              <a:t>Objętość kuli k-wymiarowej I</a:t>
            </a:r>
            <a:endParaRPr b="0" i="0" sz="4400" u="none" cap="none" strike="noStrike">
              <a:solidFill>
                <a:schemeClr val="dk1"/>
              </a:solidFill>
              <a:latin typeface="Calibri"/>
              <a:ea typeface="Calibri"/>
              <a:cs typeface="Calibri"/>
              <a:sym typeface="Calibri"/>
            </a:endParaRPr>
          </a:p>
        </p:txBody>
      </p:sp>
      <p:sp>
        <p:nvSpPr>
          <p:cNvPr id="135" name="Google Shape;135;p15"/>
          <p:cNvSpPr/>
          <p:nvPr/>
        </p:nvSpPr>
        <p:spPr>
          <a:xfrm>
            <a:off x="538375" y="2660624"/>
            <a:ext cx="6400800" cy="457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A8"/>
              </a:buClr>
              <a:buSzPts val="1500"/>
              <a:buFont typeface="Calibri"/>
              <a:buNone/>
            </a:pPr>
            <a:r>
              <a:rPr b="0" i="1" lang="pl" sz="1500" u="none" cap="none" strike="noStrike">
                <a:solidFill>
                  <a:srgbClr val="00C2A8"/>
                </a:solidFill>
                <a:latin typeface="Calibri"/>
                <a:ea typeface="Calibri"/>
                <a:cs typeface="Calibri"/>
                <a:sym typeface="Calibri"/>
              </a:rPr>
              <a:t>Estymacja objętości 10-wymiarowej kuli metodą Monte Carlo</a:t>
            </a:r>
            <a:endParaRPr b="0" i="0" sz="1500" u="none" cap="none" strike="noStrike">
              <a:solidFill>
                <a:schemeClr val="dk1"/>
              </a:solidFill>
              <a:latin typeface="Calibri"/>
              <a:ea typeface="Calibri"/>
              <a:cs typeface="Calibri"/>
              <a:sym typeface="Calibri"/>
            </a:endParaRPr>
          </a:p>
        </p:txBody>
      </p:sp>
      <p:sp>
        <p:nvSpPr>
          <p:cNvPr id="136" name="Google Shape;136;p15"/>
          <p:cNvSpPr/>
          <p:nvPr/>
        </p:nvSpPr>
        <p:spPr>
          <a:xfrm>
            <a:off x="0" y="4709160"/>
            <a:ext cx="9144000" cy="434340"/>
          </a:xfrm>
          <a:prstGeom prst="rect">
            <a:avLst/>
          </a:prstGeom>
          <a:solidFill>
            <a:srgbClr val="1A2744"/>
          </a:solidFill>
          <a:ln cap="flat" cmpd="sng" w="12700">
            <a:solidFill>
              <a:srgbClr val="1A2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5"/>
          <p:cNvSpPr/>
          <p:nvPr/>
        </p:nvSpPr>
        <p:spPr>
          <a:xfrm>
            <a:off x="502920" y="4727448"/>
            <a:ext cx="82296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100"/>
              <a:buFont typeface="Calibri"/>
              <a:buNone/>
            </a:pPr>
            <a:r>
              <a:rPr lang="pl" sz="1100">
                <a:solidFill>
                  <a:srgbClr val="8A96AD"/>
                </a:solidFill>
                <a:latin typeface="Calibri"/>
                <a:ea typeface="Calibri"/>
                <a:cs typeface="Calibri"/>
                <a:sym typeface="Calibri"/>
              </a:rPr>
              <a:t>Objętość kuli k-wymiarowej I</a:t>
            </a:r>
            <a:endParaRPr b="0" i="0" sz="1100" u="none" cap="none" strike="noStrike">
              <a:solidFill>
                <a:schemeClr val="dk1"/>
              </a:solidFill>
              <a:latin typeface="Calibri"/>
              <a:ea typeface="Calibri"/>
              <a:cs typeface="Calibri"/>
              <a:sym typeface="Calibri"/>
            </a:endParaRPr>
          </a:p>
        </p:txBody>
      </p:sp>
      <p:sp>
        <p:nvSpPr>
          <p:cNvPr id="138" name="Google Shape;138;p15"/>
          <p:cNvSpPr txBox="1"/>
          <p:nvPr/>
        </p:nvSpPr>
        <p:spPr>
          <a:xfrm>
            <a:off x="5476838" y="4252025"/>
            <a:ext cx="5917500" cy="7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30"/>
        </a:solidFill>
      </p:bgPr>
    </p:bg>
    <p:spTree>
      <p:nvGrpSpPr>
        <p:cNvPr id="143" name="Shape 143"/>
        <p:cNvGrpSpPr/>
        <p:nvPr/>
      </p:nvGrpSpPr>
      <p:grpSpPr>
        <a:xfrm>
          <a:off x="0" y="0"/>
          <a:ext cx="0" cy="0"/>
          <a:chOff x="0" y="0"/>
          <a:chExt cx="0" cy="0"/>
        </a:xfrm>
      </p:grpSpPr>
      <p:sp>
        <p:nvSpPr>
          <p:cNvPr id="144" name="Google Shape;144;p16"/>
          <p:cNvSpPr/>
          <p:nvPr/>
        </p:nvSpPr>
        <p:spPr>
          <a:xfrm>
            <a:off x="7406640" y="-1554480"/>
            <a:ext cx="2560320" cy="2560320"/>
          </a:xfrm>
          <a:prstGeom prst="ellipse">
            <a:avLst/>
          </a:prstGeom>
          <a:solidFill>
            <a:srgbClr val="00C2A8">
              <a:alpha val="20000"/>
            </a:srgbClr>
          </a:solidFill>
          <a:ln cap="flat" cmpd="sng" w="19050">
            <a:solidFill>
              <a:srgbClr val="00C2A8">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6"/>
          <p:cNvSpPr/>
          <p:nvPr/>
        </p:nvSpPr>
        <p:spPr>
          <a:xfrm>
            <a:off x="7680960" y="731520"/>
            <a:ext cx="1280160" cy="1280160"/>
          </a:xfrm>
          <a:prstGeom prst="ellipse">
            <a:avLst/>
          </a:prstGeom>
          <a:solidFill>
            <a:srgbClr val="7B5EA7">
              <a:alpha val="25098"/>
            </a:srgbClr>
          </a:solidFill>
          <a:ln cap="flat" cmpd="sng" w="19050">
            <a:solidFill>
              <a:srgbClr val="7B5EA7">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
          <p:cNvSpPr/>
          <p:nvPr/>
        </p:nvSpPr>
        <p:spPr>
          <a:xfrm>
            <a:off x="228600" y="3566160"/>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6"/>
          <p:cNvSpPr/>
          <p:nvPr/>
        </p:nvSpPr>
        <p:spPr>
          <a:xfrm>
            <a:off x="576072" y="3566160"/>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6"/>
          <p:cNvSpPr/>
          <p:nvPr/>
        </p:nvSpPr>
        <p:spPr>
          <a:xfrm>
            <a:off x="923544" y="3566160"/>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6"/>
          <p:cNvSpPr/>
          <p:nvPr/>
        </p:nvSpPr>
        <p:spPr>
          <a:xfrm>
            <a:off x="1271016" y="3566160"/>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6"/>
          <p:cNvSpPr/>
          <p:nvPr/>
        </p:nvSpPr>
        <p:spPr>
          <a:xfrm>
            <a:off x="1618488" y="3566160"/>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6"/>
          <p:cNvSpPr/>
          <p:nvPr/>
        </p:nvSpPr>
        <p:spPr>
          <a:xfrm>
            <a:off x="228600" y="3913632"/>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p:nvPr/>
        </p:nvSpPr>
        <p:spPr>
          <a:xfrm>
            <a:off x="576072" y="3913632"/>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
          <p:cNvSpPr/>
          <p:nvPr/>
        </p:nvSpPr>
        <p:spPr>
          <a:xfrm>
            <a:off x="923544" y="3913632"/>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6"/>
          <p:cNvSpPr/>
          <p:nvPr/>
        </p:nvSpPr>
        <p:spPr>
          <a:xfrm>
            <a:off x="1271016" y="3913632"/>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p:nvPr/>
        </p:nvSpPr>
        <p:spPr>
          <a:xfrm>
            <a:off x="1618488" y="3913632"/>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6"/>
          <p:cNvSpPr/>
          <p:nvPr/>
        </p:nvSpPr>
        <p:spPr>
          <a:xfrm>
            <a:off x="228600" y="4261104"/>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6"/>
          <p:cNvSpPr/>
          <p:nvPr/>
        </p:nvSpPr>
        <p:spPr>
          <a:xfrm>
            <a:off x="576072" y="4261104"/>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6"/>
          <p:cNvSpPr/>
          <p:nvPr/>
        </p:nvSpPr>
        <p:spPr>
          <a:xfrm>
            <a:off x="923544" y="4261104"/>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6"/>
          <p:cNvSpPr/>
          <p:nvPr/>
        </p:nvSpPr>
        <p:spPr>
          <a:xfrm>
            <a:off x="1271016" y="4261104"/>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6"/>
          <p:cNvSpPr/>
          <p:nvPr/>
        </p:nvSpPr>
        <p:spPr>
          <a:xfrm>
            <a:off x="1618488" y="4261104"/>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6"/>
          <p:cNvSpPr/>
          <p:nvPr/>
        </p:nvSpPr>
        <p:spPr>
          <a:xfrm>
            <a:off x="228600" y="4608576"/>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6"/>
          <p:cNvSpPr/>
          <p:nvPr/>
        </p:nvSpPr>
        <p:spPr>
          <a:xfrm>
            <a:off x="576072" y="4608576"/>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6"/>
          <p:cNvSpPr/>
          <p:nvPr/>
        </p:nvSpPr>
        <p:spPr>
          <a:xfrm>
            <a:off x="923544" y="4608576"/>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6"/>
          <p:cNvSpPr/>
          <p:nvPr/>
        </p:nvSpPr>
        <p:spPr>
          <a:xfrm>
            <a:off x="1271016" y="4608576"/>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6"/>
          <p:cNvSpPr/>
          <p:nvPr/>
        </p:nvSpPr>
        <p:spPr>
          <a:xfrm>
            <a:off x="1618488" y="4608576"/>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6"/>
          <p:cNvSpPr/>
          <p:nvPr/>
        </p:nvSpPr>
        <p:spPr>
          <a:xfrm>
            <a:off x="228600" y="4956048"/>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6"/>
          <p:cNvSpPr/>
          <p:nvPr/>
        </p:nvSpPr>
        <p:spPr>
          <a:xfrm>
            <a:off x="576072" y="4956048"/>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923544" y="4956048"/>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
          <p:cNvSpPr/>
          <p:nvPr/>
        </p:nvSpPr>
        <p:spPr>
          <a:xfrm>
            <a:off x="1271016" y="4956048"/>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6"/>
          <p:cNvSpPr/>
          <p:nvPr/>
        </p:nvSpPr>
        <p:spPr>
          <a:xfrm>
            <a:off x="1618488" y="4956048"/>
            <a:ext cx="54864" cy="54864"/>
          </a:xfrm>
          <a:prstGeom prst="ellipse">
            <a:avLst/>
          </a:prstGeom>
          <a:solidFill>
            <a:srgbClr val="00C2A8">
              <a:alpha val="18039"/>
            </a:srgbClr>
          </a:solidFill>
          <a:ln cap="flat" cmpd="sng" w="12700">
            <a:solidFill>
              <a:srgbClr val="00C2A8">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
          <p:cNvSpPr/>
          <p:nvPr/>
        </p:nvSpPr>
        <p:spPr>
          <a:xfrm>
            <a:off x="0" y="0"/>
            <a:ext cx="9144000" cy="77724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
          <p:cNvSpPr/>
          <p:nvPr/>
        </p:nvSpPr>
        <p:spPr>
          <a:xfrm>
            <a:off x="0" y="0"/>
            <a:ext cx="164592" cy="7772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6"/>
          <p:cNvSpPr/>
          <p:nvPr/>
        </p:nvSpPr>
        <p:spPr>
          <a:xfrm>
            <a:off x="384048" y="0"/>
            <a:ext cx="7772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pl" sz="2200">
                <a:solidFill>
                  <a:srgbClr val="FFFFFF"/>
                </a:solidFill>
                <a:latin typeface="Calibri"/>
                <a:ea typeface="Calibri"/>
                <a:cs typeface="Calibri"/>
                <a:sym typeface="Calibri"/>
              </a:rPr>
              <a:t>Objętość kuli k-wymiarowej</a:t>
            </a:r>
            <a:endParaRPr b="0" i="0" sz="2200" u="none" cap="none" strike="noStrike">
              <a:solidFill>
                <a:schemeClr val="dk1"/>
              </a:solidFill>
              <a:latin typeface="Calibri"/>
              <a:ea typeface="Calibri"/>
              <a:cs typeface="Calibri"/>
              <a:sym typeface="Calibri"/>
            </a:endParaRPr>
          </a:p>
        </p:txBody>
      </p:sp>
      <p:sp>
        <p:nvSpPr>
          <p:cNvPr id="174" name="Google Shape;174;p16"/>
          <p:cNvSpPr/>
          <p:nvPr/>
        </p:nvSpPr>
        <p:spPr>
          <a:xfrm>
            <a:off x="8321040" y="0"/>
            <a:ext cx="731520" cy="7772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C2A8"/>
              </a:buClr>
              <a:buSzPts val="1800"/>
              <a:buFont typeface="Calibri"/>
              <a:buNone/>
            </a:pPr>
            <a:r>
              <a:rPr b="1" i="0" lang="pl" sz="1800" u="none" cap="none" strike="noStrike">
                <a:solidFill>
                  <a:srgbClr val="00C2A8"/>
                </a:solidFill>
                <a:latin typeface="Calibri"/>
                <a:ea typeface="Calibri"/>
                <a:cs typeface="Calibri"/>
                <a:sym typeface="Calibri"/>
              </a:rPr>
              <a:t>01</a:t>
            </a:r>
            <a:endParaRPr b="0" i="0" sz="1800" u="none" cap="none" strike="noStrike">
              <a:solidFill>
                <a:schemeClr val="dk1"/>
              </a:solidFill>
              <a:latin typeface="Calibri"/>
              <a:ea typeface="Calibri"/>
              <a:cs typeface="Calibri"/>
              <a:sym typeface="Calibri"/>
            </a:endParaRPr>
          </a:p>
        </p:txBody>
      </p:sp>
      <p:sp>
        <p:nvSpPr>
          <p:cNvPr id="175" name="Google Shape;175;p16"/>
          <p:cNvSpPr/>
          <p:nvPr/>
        </p:nvSpPr>
        <p:spPr>
          <a:xfrm>
            <a:off x="2370200" y="2866088"/>
            <a:ext cx="4321800" cy="1455000"/>
          </a:xfrm>
          <a:prstGeom prst="rect">
            <a:avLst/>
          </a:prstGeom>
          <a:solidFill>
            <a:srgbClr val="152035">
              <a:alpha val="80000"/>
            </a:srgbClr>
          </a:solidFill>
          <a:ln cap="flat" cmpd="sng" w="12700">
            <a:solidFill>
              <a:srgbClr val="00C2A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
          <p:cNvSpPr/>
          <p:nvPr/>
        </p:nvSpPr>
        <p:spPr>
          <a:xfrm>
            <a:off x="2370200" y="2866075"/>
            <a:ext cx="63900" cy="14550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6"/>
          <p:cNvSpPr/>
          <p:nvPr/>
        </p:nvSpPr>
        <p:spPr>
          <a:xfrm>
            <a:off x="0" y="4754880"/>
            <a:ext cx="9144000" cy="38862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6"/>
          <p:cNvSpPr/>
          <p:nvPr/>
        </p:nvSpPr>
        <p:spPr>
          <a:xfrm>
            <a:off x="365760" y="4754880"/>
            <a:ext cx="45720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000"/>
              <a:buFont typeface="Calibri"/>
              <a:buNone/>
            </a:pPr>
            <a:r>
              <a:rPr lang="pl" sz="1000">
                <a:solidFill>
                  <a:srgbClr val="8A96AD"/>
                </a:solidFill>
                <a:latin typeface="Calibri"/>
                <a:ea typeface="Calibri"/>
                <a:cs typeface="Calibri"/>
                <a:sym typeface="Calibri"/>
              </a:rPr>
              <a:t>Objętość kuli k-wymiarowej I</a:t>
            </a:r>
            <a:endParaRPr b="0" i="0" sz="1000" u="none" cap="none" strike="noStrike">
              <a:solidFill>
                <a:schemeClr val="dk1"/>
              </a:solidFill>
              <a:latin typeface="Calibri"/>
              <a:ea typeface="Calibri"/>
              <a:cs typeface="Calibri"/>
              <a:sym typeface="Calibri"/>
            </a:endParaRPr>
          </a:p>
        </p:txBody>
      </p:sp>
      <p:sp>
        <p:nvSpPr>
          <p:cNvPr id="179" name="Google Shape;179;p16"/>
          <p:cNvSpPr txBox="1"/>
          <p:nvPr/>
        </p:nvSpPr>
        <p:spPr>
          <a:xfrm>
            <a:off x="2446650" y="2866100"/>
            <a:ext cx="4250700" cy="116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l">
                <a:solidFill>
                  <a:schemeClr val="lt1"/>
                </a:solidFill>
              </a:rPr>
              <a:t>Dane:</a:t>
            </a:r>
            <a:endParaRPr>
              <a:solidFill>
                <a:schemeClr val="lt1"/>
              </a:solidFill>
            </a:endParaRPr>
          </a:p>
          <a:p>
            <a:pPr indent="0" lvl="0" marL="0" rtl="0" algn="ctr">
              <a:spcBef>
                <a:spcPts val="0"/>
              </a:spcBef>
              <a:spcAft>
                <a:spcPts val="0"/>
              </a:spcAft>
              <a:buNone/>
            </a:pPr>
            <a:r>
              <a:rPr lang="pl">
                <a:solidFill>
                  <a:schemeClr val="lt1"/>
                </a:solidFill>
              </a:rPr>
              <a:t>Przestrzeń: ℝ¹⁰ </a:t>
            </a:r>
            <a:endParaRPr>
              <a:solidFill>
                <a:schemeClr val="lt1"/>
              </a:solidFill>
            </a:endParaRPr>
          </a:p>
          <a:p>
            <a:pPr indent="0" lvl="0" marL="0" rtl="0" algn="ctr">
              <a:spcBef>
                <a:spcPts val="0"/>
              </a:spcBef>
              <a:spcAft>
                <a:spcPts val="0"/>
              </a:spcAft>
              <a:buNone/>
            </a:pPr>
            <a:r>
              <a:rPr lang="pl">
                <a:solidFill>
                  <a:schemeClr val="lt1"/>
                </a:solidFill>
              </a:rPr>
              <a:t>Wymiar kuli: k = 10</a:t>
            </a:r>
            <a:endParaRPr>
              <a:solidFill>
                <a:schemeClr val="lt1"/>
              </a:solidFill>
            </a:endParaRPr>
          </a:p>
          <a:p>
            <a:pPr indent="0" lvl="0" marL="0" rtl="0" algn="ctr">
              <a:spcBef>
                <a:spcPts val="0"/>
              </a:spcBef>
              <a:spcAft>
                <a:spcPts val="0"/>
              </a:spcAft>
              <a:buNone/>
            </a:pPr>
            <a:r>
              <a:rPr lang="pl">
                <a:solidFill>
                  <a:schemeClr val="lt1"/>
                </a:solidFill>
              </a:rPr>
              <a:t>Promień kuli = 1</a:t>
            </a:r>
            <a:endParaRPr>
              <a:solidFill>
                <a:schemeClr val="lt1"/>
              </a:solidFill>
            </a:endParaRPr>
          </a:p>
          <a:p>
            <a:pPr indent="0" lvl="0" marL="0" rtl="0" algn="ctr">
              <a:spcBef>
                <a:spcPts val="0"/>
              </a:spcBef>
              <a:spcAft>
                <a:spcPts val="0"/>
              </a:spcAft>
              <a:buNone/>
            </a:pPr>
            <a:r>
              <a:rPr lang="pl" sz="1100">
                <a:solidFill>
                  <a:schemeClr val="lt1"/>
                </a:solidFill>
              </a:rPr>
              <a:t>Objętość sześcianu otaczającego kulę: [-1,1]¹⁰ = 2¹⁰ = 1024</a:t>
            </a:r>
            <a:r>
              <a:rPr lang="pl">
                <a:solidFill>
                  <a:schemeClr val="lt1"/>
                </a:solidFill>
              </a:rPr>
              <a:t> </a:t>
            </a:r>
            <a:endParaRPr>
              <a:solidFill>
                <a:schemeClr val="lt1"/>
              </a:solidFill>
            </a:endParaRPr>
          </a:p>
          <a:p>
            <a:pPr indent="0" lvl="0" marL="0" rtl="0" algn="ctr">
              <a:spcBef>
                <a:spcPts val="0"/>
              </a:spcBef>
              <a:spcAft>
                <a:spcPts val="0"/>
              </a:spcAft>
              <a:buNone/>
            </a:pPr>
            <a:r>
              <a:t/>
            </a:r>
            <a:endParaRPr>
              <a:solidFill>
                <a:schemeClr val="lt1"/>
              </a:solidFill>
            </a:endParaRPr>
          </a:p>
        </p:txBody>
      </p:sp>
      <p:sp>
        <p:nvSpPr>
          <p:cNvPr id="180" name="Google Shape;180;p16"/>
          <p:cNvSpPr/>
          <p:nvPr/>
        </p:nvSpPr>
        <p:spPr>
          <a:xfrm>
            <a:off x="429650" y="942500"/>
            <a:ext cx="8412300" cy="1455000"/>
          </a:xfrm>
          <a:prstGeom prst="rect">
            <a:avLst/>
          </a:prstGeom>
          <a:solidFill>
            <a:srgbClr val="152035">
              <a:alpha val="80000"/>
            </a:srgbClr>
          </a:solidFill>
          <a:ln cap="flat" cmpd="sng" w="12700">
            <a:solidFill>
              <a:srgbClr val="4A86E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
          <p:cNvSpPr txBox="1"/>
          <p:nvPr/>
        </p:nvSpPr>
        <p:spPr>
          <a:xfrm>
            <a:off x="365750" y="977300"/>
            <a:ext cx="8330700" cy="145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l">
                <a:solidFill>
                  <a:schemeClr val="lt1"/>
                </a:solidFill>
              </a:rPr>
              <a:t>Projekt opiera się na estymacji objętości 10-wymiarowej kuli o promieniu 1 przy użyciu metody Monte Carlo. Losujemy punkty z sześcianu [-1,1]¹⁰ i sprawdzamy, ile z nich trafia do kuli. Otrzymany wynik porównujemy z dokładną wartością analityczną ze wzoru z funkcją gamma Eulera, badając jak liczba prób wpływa na dokładność oszacowania. </a:t>
            </a:r>
            <a:endParaRPr>
              <a:solidFill>
                <a:schemeClr val="lt1"/>
              </a:solidFill>
            </a:endParaRPr>
          </a:p>
        </p:txBody>
      </p:sp>
      <p:sp>
        <p:nvSpPr>
          <p:cNvPr id="182" name="Google Shape;182;p16"/>
          <p:cNvSpPr/>
          <p:nvPr/>
        </p:nvSpPr>
        <p:spPr>
          <a:xfrm>
            <a:off x="429650" y="942500"/>
            <a:ext cx="63900" cy="1455000"/>
          </a:xfrm>
          <a:prstGeom prst="rect">
            <a:avLst/>
          </a:prstGeom>
          <a:solidFill>
            <a:srgbClr val="11489F"/>
          </a:solidFill>
          <a:ln cap="flat" cmpd="sng" w="12700">
            <a:solidFill>
              <a:srgbClr val="3461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4572000" y="4754880"/>
            <a:ext cx="4206300" cy="384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6AD"/>
              </a:buClr>
              <a:buSzPts val="1000"/>
              <a:buFont typeface="Calibri"/>
              <a:buNone/>
            </a:pPr>
            <a:r>
              <a:rPr b="0" i="0" lang="pl" sz="1000" u="none" cap="none" strike="noStrike">
                <a:solidFill>
                  <a:srgbClr val="8A96AD"/>
                </a:solidFill>
                <a:latin typeface="Calibri"/>
                <a:ea typeface="Calibri"/>
                <a:cs typeface="Calibri"/>
                <a:sym typeface="Calibri"/>
              </a:rPr>
              <a:t>[ </a:t>
            </a:r>
            <a:r>
              <a:rPr lang="pl" sz="1000">
                <a:solidFill>
                  <a:srgbClr val="8A96AD"/>
                </a:solidFill>
                <a:latin typeface="Calibri"/>
                <a:ea typeface="Calibri"/>
                <a:cs typeface="Calibri"/>
                <a:sym typeface="Calibri"/>
              </a:rPr>
              <a:t>16.05.2026</a:t>
            </a:r>
            <a:r>
              <a:rPr b="0" i="0" lang="pl" sz="1000" u="none" cap="none" strike="noStrike">
                <a:solidFill>
                  <a:srgbClr val="8A96AD"/>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30"/>
        </a:solidFill>
      </p:bgPr>
    </p:bg>
    <p:spTree>
      <p:nvGrpSpPr>
        <p:cNvPr id="188" name="Shape 188"/>
        <p:cNvGrpSpPr/>
        <p:nvPr/>
      </p:nvGrpSpPr>
      <p:grpSpPr>
        <a:xfrm>
          <a:off x="0" y="0"/>
          <a:ext cx="0" cy="0"/>
          <a:chOff x="0" y="0"/>
          <a:chExt cx="0" cy="0"/>
        </a:xfrm>
      </p:grpSpPr>
      <p:sp>
        <p:nvSpPr>
          <p:cNvPr id="189" name="Google Shape;189;p17"/>
          <p:cNvSpPr/>
          <p:nvPr/>
        </p:nvSpPr>
        <p:spPr>
          <a:xfrm>
            <a:off x="7406640" y="-1554480"/>
            <a:ext cx="2560200" cy="2560200"/>
          </a:xfrm>
          <a:prstGeom prst="ellipse">
            <a:avLst/>
          </a:prstGeom>
          <a:solidFill>
            <a:srgbClr val="00C2A8">
              <a:alpha val="20000"/>
            </a:srgbClr>
          </a:solidFill>
          <a:ln cap="flat" cmpd="sng" w="19050">
            <a:solidFill>
              <a:srgbClr val="00C2A8">
                <a:alpha val="1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7"/>
          <p:cNvSpPr/>
          <p:nvPr/>
        </p:nvSpPr>
        <p:spPr>
          <a:xfrm>
            <a:off x="7680960" y="731520"/>
            <a:ext cx="1280100" cy="1280100"/>
          </a:xfrm>
          <a:prstGeom prst="ellipse">
            <a:avLst/>
          </a:prstGeom>
          <a:solidFill>
            <a:srgbClr val="7B5EA7">
              <a:alpha val="25099"/>
            </a:srgbClr>
          </a:solidFill>
          <a:ln cap="flat" cmpd="sng" w="19050">
            <a:solidFill>
              <a:srgbClr val="7B5EA7">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
          <p:cNvSpPr/>
          <p:nvPr/>
        </p:nvSpPr>
        <p:spPr>
          <a:xfrm>
            <a:off x="228600"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
          <p:cNvSpPr/>
          <p:nvPr/>
        </p:nvSpPr>
        <p:spPr>
          <a:xfrm>
            <a:off x="576072"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
          <p:cNvSpPr/>
          <p:nvPr/>
        </p:nvSpPr>
        <p:spPr>
          <a:xfrm>
            <a:off x="923544"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7"/>
          <p:cNvSpPr/>
          <p:nvPr/>
        </p:nvSpPr>
        <p:spPr>
          <a:xfrm>
            <a:off x="1271016"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7"/>
          <p:cNvSpPr/>
          <p:nvPr/>
        </p:nvSpPr>
        <p:spPr>
          <a:xfrm>
            <a:off x="1618488"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7"/>
          <p:cNvSpPr/>
          <p:nvPr/>
        </p:nvSpPr>
        <p:spPr>
          <a:xfrm>
            <a:off x="228600"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7"/>
          <p:cNvSpPr/>
          <p:nvPr/>
        </p:nvSpPr>
        <p:spPr>
          <a:xfrm>
            <a:off x="576072"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
          <p:cNvSpPr/>
          <p:nvPr/>
        </p:nvSpPr>
        <p:spPr>
          <a:xfrm>
            <a:off x="923544"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7"/>
          <p:cNvSpPr/>
          <p:nvPr/>
        </p:nvSpPr>
        <p:spPr>
          <a:xfrm>
            <a:off x="1271016"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7"/>
          <p:cNvSpPr/>
          <p:nvPr/>
        </p:nvSpPr>
        <p:spPr>
          <a:xfrm>
            <a:off x="1618488"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7"/>
          <p:cNvSpPr/>
          <p:nvPr/>
        </p:nvSpPr>
        <p:spPr>
          <a:xfrm>
            <a:off x="228600"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7"/>
          <p:cNvSpPr/>
          <p:nvPr/>
        </p:nvSpPr>
        <p:spPr>
          <a:xfrm>
            <a:off x="576072"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7"/>
          <p:cNvSpPr/>
          <p:nvPr/>
        </p:nvSpPr>
        <p:spPr>
          <a:xfrm>
            <a:off x="923544"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7"/>
          <p:cNvSpPr/>
          <p:nvPr/>
        </p:nvSpPr>
        <p:spPr>
          <a:xfrm>
            <a:off x="1271016"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7"/>
          <p:cNvSpPr/>
          <p:nvPr/>
        </p:nvSpPr>
        <p:spPr>
          <a:xfrm>
            <a:off x="1618488"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7"/>
          <p:cNvSpPr/>
          <p:nvPr/>
        </p:nvSpPr>
        <p:spPr>
          <a:xfrm>
            <a:off x="228600"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7"/>
          <p:cNvSpPr/>
          <p:nvPr/>
        </p:nvSpPr>
        <p:spPr>
          <a:xfrm>
            <a:off x="576072"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7"/>
          <p:cNvSpPr/>
          <p:nvPr/>
        </p:nvSpPr>
        <p:spPr>
          <a:xfrm>
            <a:off x="923544"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7"/>
          <p:cNvSpPr/>
          <p:nvPr/>
        </p:nvSpPr>
        <p:spPr>
          <a:xfrm>
            <a:off x="1271016"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7"/>
          <p:cNvSpPr/>
          <p:nvPr/>
        </p:nvSpPr>
        <p:spPr>
          <a:xfrm>
            <a:off x="1618488"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7"/>
          <p:cNvSpPr/>
          <p:nvPr/>
        </p:nvSpPr>
        <p:spPr>
          <a:xfrm>
            <a:off x="228600"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7"/>
          <p:cNvSpPr/>
          <p:nvPr/>
        </p:nvSpPr>
        <p:spPr>
          <a:xfrm>
            <a:off x="576072"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7"/>
          <p:cNvSpPr/>
          <p:nvPr/>
        </p:nvSpPr>
        <p:spPr>
          <a:xfrm>
            <a:off x="923544"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7"/>
          <p:cNvSpPr/>
          <p:nvPr/>
        </p:nvSpPr>
        <p:spPr>
          <a:xfrm>
            <a:off x="1271016"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7"/>
          <p:cNvSpPr/>
          <p:nvPr/>
        </p:nvSpPr>
        <p:spPr>
          <a:xfrm>
            <a:off x="1618488"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7"/>
          <p:cNvSpPr/>
          <p:nvPr/>
        </p:nvSpPr>
        <p:spPr>
          <a:xfrm>
            <a:off x="0" y="0"/>
            <a:ext cx="9144000" cy="7773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7"/>
          <p:cNvSpPr/>
          <p:nvPr/>
        </p:nvSpPr>
        <p:spPr>
          <a:xfrm>
            <a:off x="0" y="0"/>
            <a:ext cx="164700" cy="7773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7"/>
          <p:cNvSpPr/>
          <p:nvPr/>
        </p:nvSpPr>
        <p:spPr>
          <a:xfrm>
            <a:off x="384048" y="0"/>
            <a:ext cx="7772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lang="pl" sz="2200">
                <a:solidFill>
                  <a:schemeClr val="lt1"/>
                </a:solidFill>
                <a:latin typeface="Calibri"/>
                <a:ea typeface="Calibri"/>
                <a:cs typeface="Calibri"/>
                <a:sym typeface="Calibri"/>
              </a:rPr>
              <a:t>DOKŁADNA OBJĘTOŚĆ </a:t>
            </a:r>
            <a:r>
              <a:rPr lang="pl" sz="2700">
                <a:solidFill>
                  <a:schemeClr val="lt1"/>
                </a:solidFill>
                <a:latin typeface="Calibri"/>
                <a:ea typeface="Calibri"/>
                <a:cs typeface="Calibri"/>
                <a:sym typeface="Calibri"/>
              </a:rPr>
              <a:t>Vₖ </a:t>
            </a:r>
            <a:r>
              <a:rPr lang="pl" sz="2200">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p:txBody>
      </p:sp>
      <p:sp>
        <p:nvSpPr>
          <p:cNvPr id="219" name="Google Shape;219;p17"/>
          <p:cNvSpPr/>
          <p:nvPr/>
        </p:nvSpPr>
        <p:spPr>
          <a:xfrm>
            <a:off x="8321040" y="0"/>
            <a:ext cx="731400" cy="777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C2A8"/>
              </a:buClr>
              <a:buSzPts val="1800"/>
              <a:buFont typeface="Calibri"/>
              <a:buNone/>
            </a:pPr>
            <a:r>
              <a:rPr b="1" i="0" lang="pl" sz="1800" u="none" cap="none" strike="noStrike">
                <a:solidFill>
                  <a:srgbClr val="00C2A8"/>
                </a:solidFill>
                <a:latin typeface="Calibri"/>
                <a:ea typeface="Calibri"/>
                <a:cs typeface="Calibri"/>
                <a:sym typeface="Calibri"/>
              </a:rPr>
              <a:t>0</a:t>
            </a:r>
            <a:r>
              <a:rPr b="1" lang="pl" sz="1800">
                <a:solidFill>
                  <a:srgbClr val="00C2A8"/>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220" name="Google Shape;220;p17"/>
          <p:cNvSpPr/>
          <p:nvPr/>
        </p:nvSpPr>
        <p:spPr>
          <a:xfrm>
            <a:off x="365750" y="960125"/>
            <a:ext cx="3895200" cy="1707600"/>
          </a:xfrm>
          <a:prstGeom prst="rect">
            <a:avLst/>
          </a:prstGeom>
          <a:solidFill>
            <a:srgbClr val="152035">
              <a:alpha val="80000"/>
            </a:srgbClr>
          </a:solidFill>
          <a:ln cap="flat" cmpd="sng" w="12700">
            <a:solidFill>
              <a:srgbClr val="00C2A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7"/>
          <p:cNvSpPr/>
          <p:nvPr/>
        </p:nvSpPr>
        <p:spPr>
          <a:xfrm>
            <a:off x="365750" y="960125"/>
            <a:ext cx="63900" cy="17076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7"/>
          <p:cNvSpPr/>
          <p:nvPr/>
        </p:nvSpPr>
        <p:spPr>
          <a:xfrm>
            <a:off x="365745" y="2978200"/>
            <a:ext cx="3895200" cy="1456500"/>
          </a:xfrm>
          <a:prstGeom prst="rect">
            <a:avLst/>
          </a:prstGeom>
          <a:solidFill>
            <a:srgbClr val="1A2E4A">
              <a:alpha val="80000"/>
            </a:srgbClr>
          </a:solidFill>
          <a:ln cap="flat" cmpd="sng" w="12700">
            <a:solidFill>
              <a:srgbClr val="7B5EA7">
                <a:alpha val="451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7"/>
          <p:cNvSpPr/>
          <p:nvPr/>
        </p:nvSpPr>
        <p:spPr>
          <a:xfrm>
            <a:off x="365750" y="2978222"/>
            <a:ext cx="63900" cy="1456500"/>
          </a:xfrm>
          <a:prstGeom prst="rect">
            <a:avLst/>
          </a:prstGeom>
          <a:solidFill>
            <a:srgbClr val="7B5EA7">
              <a:alpha val="70200"/>
            </a:srgbClr>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7"/>
          <p:cNvSpPr/>
          <p:nvPr/>
        </p:nvSpPr>
        <p:spPr>
          <a:xfrm>
            <a:off x="0" y="4754880"/>
            <a:ext cx="9144000" cy="3885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5" name="Google Shape;225;p17" title="VK.png"/>
          <p:cNvPicPr preferRelativeResize="0"/>
          <p:nvPr/>
        </p:nvPicPr>
        <p:blipFill>
          <a:blip r:embed="rId3">
            <a:alphaModFix/>
          </a:blip>
          <a:stretch>
            <a:fillRect/>
          </a:stretch>
        </p:blipFill>
        <p:spPr>
          <a:xfrm>
            <a:off x="794000" y="960125"/>
            <a:ext cx="3038700" cy="1765175"/>
          </a:xfrm>
          <a:prstGeom prst="rect">
            <a:avLst/>
          </a:prstGeom>
          <a:noFill/>
          <a:ln>
            <a:noFill/>
          </a:ln>
        </p:spPr>
      </p:pic>
      <p:sp>
        <p:nvSpPr>
          <p:cNvPr id="226" name="Google Shape;226;p17"/>
          <p:cNvSpPr txBox="1"/>
          <p:nvPr/>
        </p:nvSpPr>
        <p:spPr>
          <a:xfrm>
            <a:off x="429650" y="960125"/>
            <a:ext cx="3831300" cy="170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l">
                <a:solidFill>
                  <a:schemeClr val="lt1"/>
                </a:solidFill>
              </a:rPr>
              <a:t>Wzór na objętość k-wymiarową kuli:</a:t>
            </a:r>
            <a:endParaRPr>
              <a:solidFill>
                <a:schemeClr val="lt1"/>
              </a:solidFill>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27" name="Google Shape;227;p17"/>
          <p:cNvSpPr txBox="1"/>
          <p:nvPr/>
        </p:nvSpPr>
        <p:spPr>
          <a:xfrm>
            <a:off x="365850" y="2978225"/>
            <a:ext cx="3895200" cy="65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pl" sz="1700">
                <a:solidFill>
                  <a:srgbClr val="7B5EA7"/>
                </a:solidFill>
              </a:rPr>
              <a:t>SciNotes :</a:t>
            </a:r>
            <a:endParaRPr i="1" sz="1700">
              <a:solidFill>
                <a:srgbClr val="7B5EA7"/>
              </a:solidFill>
              <a:highlight>
                <a:schemeClr val="lt1"/>
              </a:highlight>
            </a:endParaRPr>
          </a:p>
        </p:txBody>
      </p:sp>
      <p:sp>
        <p:nvSpPr>
          <p:cNvPr id="228" name="Google Shape;228;p17"/>
          <p:cNvSpPr/>
          <p:nvPr/>
        </p:nvSpPr>
        <p:spPr>
          <a:xfrm>
            <a:off x="511900" y="3392600"/>
            <a:ext cx="3628200" cy="957600"/>
          </a:xfrm>
          <a:prstGeom prst="rect">
            <a:avLst/>
          </a:prstGeom>
          <a:solidFill>
            <a:srgbClr val="152035">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7"/>
          <p:cNvSpPr txBox="1"/>
          <p:nvPr/>
        </p:nvSpPr>
        <p:spPr>
          <a:xfrm>
            <a:off x="729700" y="3392600"/>
            <a:ext cx="3320700" cy="9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150">
                <a:solidFill>
                  <a:schemeClr val="lt1"/>
                </a:solidFill>
              </a:rPr>
              <a:t>k = 10;</a:t>
            </a:r>
            <a:endParaRPr sz="1150">
              <a:solidFill>
                <a:schemeClr val="lt1"/>
              </a:solidFill>
            </a:endParaRPr>
          </a:p>
          <a:p>
            <a:pPr indent="0" lvl="0" marL="0" rtl="0" algn="l">
              <a:spcBef>
                <a:spcPts val="0"/>
              </a:spcBef>
              <a:spcAft>
                <a:spcPts val="0"/>
              </a:spcAft>
              <a:buNone/>
            </a:pPr>
            <a:r>
              <a:rPr lang="pl" sz="1150">
                <a:solidFill>
                  <a:schemeClr val="lt1"/>
                </a:solidFill>
              </a:rPr>
              <a:t>V_dokladne = (2/k) * ((%pi)^(k/2)) / gamma(k/2);</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disp("V_dokladne = " + string(V_dokladne));</a:t>
            </a:r>
            <a:endParaRPr sz="1150">
              <a:solidFill>
                <a:schemeClr val="lt1"/>
              </a:solidFill>
            </a:endParaRPr>
          </a:p>
          <a:p>
            <a:pPr indent="0" lvl="0" marL="0" rtl="0" algn="l">
              <a:spcBef>
                <a:spcPts val="0"/>
              </a:spcBef>
              <a:spcAft>
                <a:spcPts val="0"/>
              </a:spcAft>
              <a:buNone/>
            </a:pPr>
            <a:r>
              <a:t/>
            </a:r>
            <a:endParaRPr/>
          </a:p>
        </p:txBody>
      </p:sp>
      <p:sp>
        <p:nvSpPr>
          <p:cNvPr id="230" name="Google Shape;230;p17"/>
          <p:cNvSpPr/>
          <p:nvPr/>
        </p:nvSpPr>
        <p:spPr>
          <a:xfrm>
            <a:off x="511900" y="3392600"/>
            <a:ext cx="227400" cy="955200"/>
          </a:xfrm>
          <a:prstGeom prst="rect">
            <a:avLst/>
          </a:prstGeom>
          <a:solidFill>
            <a:srgbClr val="152035">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7"/>
          <p:cNvSpPr txBox="1"/>
          <p:nvPr/>
        </p:nvSpPr>
        <p:spPr>
          <a:xfrm>
            <a:off x="522425" y="3392600"/>
            <a:ext cx="186000" cy="955200"/>
          </a:xfrm>
          <a:prstGeom prst="rect">
            <a:avLst/>
          </a:prstGeom>
          <a:noFill/>
          <a:ln>
            <a:noFill/>
          </a:ln>
        </p:spPr>
        <p:txBody>
          <a:bodyPr anchorCtr="0" anchor="t" bIns="91425" lIns="90000" spcFirstLastPara="1" rIns="89075" wrap="square" tIns="91425">
            <a:noAutofit/>
          </a:bodyPr>
          <a:lstStyle/>
          <a:p>
            <a:pPr indent="-9525" lvl="0" marL="0" rtl="0" algn="l">
              <a:spcBef>
                <a:spcPts val="0"/>
              </a:spcBef>
              <a:spcAft>
                <a:spcPts val="0"/>
              </a:spcAft>
              <a:buNone/>
            </a:pPr>
            <a:r>
              <a:rPr lang="pl" sz="1150">
                <a:solidFill>
                  <a:schemeClr val="lt1"/>
                </a:solidFill>
              </a:rPr>
              <a:t>1 </a:t>
            </a:r>
            <a:endParaRPr sz="1150">
              <a:solidFill>
                <a:schemeClr val="lt1"/>
              </a:solidFill>
            </a:endParaRPr>
          </a:p>
          <a:p>
            <a:pPr indent="-9525" lvl="0" marL="0" rtl="0" algn="l">
              <a:spcBef>
                <a:spcPts val="0"/>
              </a:spcBef>
              <a:spcAft>
                <a:spcPts val="0"/>
              </a:spcAft>
              <a:buNone/>
            </a:pPr>
            <a:r>
              <a:rPr lang="pl" sz="1150">
                <a:solidFill>
                  <a:schemeClr val="lt1"/>
                </a:solidFill>
              </a:rPr>
              <a:t>2</a:t>
            </a:r>
            <a:endParaRPr sz="1150">
              <a:solidFill>
                <a:schemeClr val="lt1"/>
              </a:solidFill>
            </a:endParaRPr>
          </a:p>
          <a:p>
            <a:pPr indent="-9525" lvl="0" marL="0" rtl="0" algn="l">
              <a:spcBef>
                <a:spcPts val="0"/>
              </a:spcBef>
              <a:spcAft>
                <a:spcPts val="0"/>
              </a:spcAft>
              <a:buNone/>
            </a:pPr>
            <a:r>
              <a:rPr lang="pl" sz="1150">
                <a:solidFill>
                  <a:schemeClr val="lt1"/>
                </a:solidFill>
              </a:rPr>
              <a:t>3</a:t>
            </a:r>
            <a:endParaRPr sz="1150">
              <a:solidFill>
                <a:schemeClr val="lt1"/>
              </a:solidFill>
            </a:endParaRPr>
          </a:p>
        </p:txBody>
      </p:sp>
      <p:sp>
        <p:nvSpPr>
          <p:cNvPr id="232" name="Google Shape;232;p17"/>
          <p:cNvSpPr/>
          <p:nvPr/>
        </p:nvSpPr>
        <p:spPr>
          <a:xfrm>
            <a:off x="4639420" y="2978225"/>
            <a:ext cx="3895200" cy="1456500"/>
          </a:xfrm>
          <a:prstGeom prst="rect">
            <a:avLst/>
          </a:prstGeom>
          <a:solidFill>
            <a:srgbClr val="E67F43">
              <a:alpha val="13500"/>
            </a:srgbClr>
          </a:solidFill>
          <a:ln cap="flat" cmpd="sng" w="12700">
            <a:solidFill>
              <a:srgbClr val="E67F43">
                <a:alpha val="451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7"/>
          <p:cNvSpPr txBox="1"/>
          <p:nvPr/>
        </p:nvSpPr>
        <p:spPr>
          <a:xfrm>
            <a:off x="4703325" y="2992425"/>
            <a:ext cx="3831300" cy="65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pl" sz="1700">
                <a:solidFill>
                  <a:srgbClr val="7B5EA7"/>
                </a:solidFill>
              </a:rPr>
              <a:t>Scilab Console</a:t>
            </a:r>
            <a:endParaRPr sz="1700">
              <a:solidFill>
                <a:srgbClr val="7B5EA7"/>
              </a:solidFill>
              <a:highlight>
                <a:schemeClr val="lt1"/>
              </a:highlight>
            </a:endParaRPr>
          </a:p>
        </p:txBody>
      </p:sp>
      <p:sp>
        <p:nvSpPr>
          <p:cNvPr id="234" name="Google Shape;234;p17"/>
          <p:cNvSpPr/>
          <p:nvPr/>
        </p:nvSpPr>
        <p:spPr>
          <a:xfrm>
            <a:off x="4639425" y="2978197"/>
            <a:ext cx="63900" cy="1456500"/>
          </a:xfrm>
          <a:prstGeom prst="rect">
            <a:avLst/>
          </a:prstGeom>
          <a:solidFill>
            <a:srgbClr val="E67F43"/>
          </a:solidFill>
          <a:ln cap="flat" cmpd="sng" w="12700">
            <a:solidFill>
              <a:srgbClr val="E5996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7"/>
          <p:cNvSpPr/>
          <p:nvPr/>
        </p:nvSpPr>
        <p:spPr>
          <a:xfrm>
            <a:off x="4817075" y="3392600"/>
            <a:ext cx="3628200" cy="957600"/>
          </a:xfrm>
          <a:prstGeom prst="rect">
            <a:avLst/>
          </a:prstGeom>
          <a:solidFill>
            <a:srgbClr val="152035">
              <a:alpha val="8000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a:solidFill>
                  <a:schemeClr val="lt1"/>
                </a:solidFill>
              </a:rPr>
              <a:t>   </a:t>
            </a:r>
            <a:r>
              <a:rPr lang="pl" sz="1150">
                <a:solidFill>
                  <a:schemeClr val="lt1"/>
                </a:solidFill>
              </a:rPr>
              <a:t>"V_dokladne = 2.550164"</a:t>
            </a:r>
            <a:endParaRPr sz="1150">
              <a:solidFill>
                <a:schemeClr val="lt1"/>
              </a:solidFill>
            </a:endParaRPr>
          </a:p>
        </p:txBody>
      </p:sp>
      <p:sp>
        <p:nvSpPr>
          <p:cNvPr id="236" name="Google Shape;236;p17"/>
          <p:cNvSpPr/>
          <p:nvPr/>
        </p:nvSpPr>
        <p:spPr>
          <a:xfrm>
            <a:off x="4817025" y="3393800"/>
            <a:ext cx="227400" cy="955200"/>
          </a:xfrm>
          <a:prstGeom prst="rect">
            <a:avLst/>
          </a:prstGeom>
          <a:solidFill>
            <a:srgbClr val="152035">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7"/>
          <p:cNvSpPr txBox="1"/>
          <p:nvPr/>
        </p:nvSpPr>
        <p:spPr>
          <a:xfrm>
            <a:off x="4817025" y="3433775"/>
            <a:ext cx="227400" cy="915300"/>
          </a:xfrm>
          <a:prstGeom prst="rect">
            <a:avLst/>
          </a:prstGeom>
          <a:noFill/>
          <a:ln>
            <a:noFill/>
          </a:ln>
        </p:spPr>
        <p:txBody>
          <a:bodyPr anchorCtr="0" anchor="t" bIns="91425" lIns="91425" spcFirstLastPara="1" rIns="91425" wrap="square" tIns="91425">
            <a:noAutofit/>
          </a:bodyPr>
          <a:lstStyle/>
          <a:p>
            <a:pPr indent="-9525" lvl="0" marL="0" rtl="0" algn="l">
              <a:spcBef>
                <a:spcPts val="0"/>
              </a:spcBef>
              <a:spcAft>
                <a:spcPts val="0"/>
              </a:spcAft>
              <a:buNone/>
            </a:pPr>
            <a:r>
              <a:rPr lang="pl" sz="1150">
                <a:solidFill>
                  <a:schemeClr val="lt1"/>
                </a:solidFill>
              </a:rPr>
              <a:t>1 </a:t>
            </a:r>
            <a:endParaRPr sz="1150">
              <a:solidFill>
                <a:schemeClr val="lt1"/>
              </a:solidFill>
            </a:endParaRPr>
          </a:p>
          <a:p>
            <a:pPr indent="-9525" lvl="0" marL="0" rtl="0" algn="l">
              <a:spcBef>
                <a:spcPts val="0"/>
              </a:spcBef>
              <a:spcAft>
                <a:spcPts val="0"/>
              </a:spcAft>
              <a:buNone/>
            </a:pPr>
            <a:r>
              <a:t/>
            </a:r>
            <a:endParaRPr sz="1150">
              <a:solidFill>
                <a:schemeClr val="lt1"/>
              </a:solidFill>
            </a:endParaRPr>
          </a:p>
          <a:p>
            <a:pPr indent="-9525" lvl="0" marL="0" rtl="0" algn="l">
              <a:spcBef>
                <a:spcPts val="0"/>
              </a:spcBef>
              <a:spcAft>
                <a:spcPts val="0"/>
              </a:spcAft>
              <a:buNone/>
            </a:pPr>
            <a:r>
              <a:t/>
            </a:r>
            <a:endParaRPr sz="1150">
              <a:solidFill>
                <a:schemeClr val="lt1"/>
              </a:solidFill>
            </a:endParaRPr>
          </a:p>
        </p:txBody>
      </p:sp>
      <p:sp>
        <p:nvSpPr>
          <p:cNvPr id="238" name="Google Shape;238;p17"/>
          <p:cNvSpPr/>
          <p:nvPr/>
        </p:nvSpPr>
        <p:spPr>
          <a:xfrm>
            <a:off x="4640075" y="1580975"/>
            <a:ext cx="3831300" cy="523500"/>
          </a:xfrm>
          <a:prstGeom prst="rect">
            <a:avLst/>
          </a:prstGeom>
          <a:solidFill>
            <a:srgbClr val="152035">
              <a:alpha val="80000"/>
            </a:srgbClr>
          </a:solidFill>
          <a:ln cap="flat" cmpd="sng" w="12700">
            <a:solidFill>
              <a:srgbClr val="00C2A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7"/>
          <p:cNvSpPr txBox="1"/>
          <p:nvPr/>
        </p:nvSpPr>
        <p:spPr>
          <a:xfrm>
            <a:off x="4639425" y="1580975"/>
            <a:ext cx="3855600" cy="52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1700">
                <a:solidFill>
                  <a:srgbClr val="00C2A8"/>
                </a:solidFill>
                <a:latin typeface="Calibri"/>
                <a:ea typeface="Calibri"/>
                <a:cs typeface="Calibri"/>
                <a:sym typeface="Calibri"/>
              </a:rPr>
              <a:t>Objętość dokładna wynosi : </a:t>
            </a:r>
            <a:r>
              <a:rPr b="1" lang="pl" sz="1700">
                <a:solidFill>
                  <a:srgbClr val="00C2A8"/>
                </a:solidFill>
                <a:latin typeface="Calibri"/>
                <a:ea typeface="Calibri"/>
                <a:cs typeface="Calibri"/>
                <a:sym typeface="Calibri"/>
              </a:rPr>
              <a:t>2.550164</a:t>
            </a:r>
            <a:endParaRPr b="1" sz="1700">
              <a:solidFill>
                <a:srgbClr val="00C2A8"/>
              </a:solidFill>
              <a:latin typeface="Calibri"/>
              <a:ea typeface="Calibri"/>
              <a:cs typeface="Calibri"/>
              <a:sym typeface="Calibri"/>
            </a:endParaRPr>
          </a:p>
        </p:txBody>
      </p:sp>
      <p:sp>
        <p:nvSpPr>
          <p:cNvPr id="240" name="Google Shape;240;p17"/>
          <p:cNvSpPr/>
          <p:nvPr/>
        </p:nvSpPr>
        <p:spPr>
          <a:xfrm>
            <a:off x="4639425" y="1580975"/>
            <a:ext cx="63900" cy="5235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7"/>
          <p:cNvSpPr/>
          <p:nvPr/>
        </p:nvSpPr>
        <p:spPr>
          <a:xfrm>
            <a:off x="4572000" y="4754880"/>
            <a:ext cx="4206300" cy="384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6AD"/>
              </a:buClr>
              <a:buSzPts val="1000"/>
              <a:buFont typeface="Calibri"/>
              <a:buNone/>
            </a:pPr>
            <a:r>
              <a:rPr b="0" i="0" lang="pl" sz="1000" u="none" cap="none" strike="noStrike">
                <a:solidFill>
                  <a:srgbClr val="8A96AD"/>
                </a:solidFill>
                <a:latin typeface="Calibri"/>
                <a:ea typeface="Calibri"/>
                <a:cs typeface="Calibri"/>
                <a:sym typeface="Calibri"/>
              </a:rPr>
              <a:t>[ </a:t>
            </a:r>
            <a:r>
              <a:rPr lang="pl" sz="1000">
                <a:solidFill>
                  <a:srgbClr val="8A96AD"/>
                </a:solidFill>
                <a:latin typeface="Calibri"/>
                <a:ea typeface="Calibri"/>
                <a:cs typeface="Calibri"/>
                <a:sym typeface="Calibri"/>
              </a:rPr>
              <a:t>16.05.2026</a:t>
            </a:r>
            <a:r>
              <a:rPr b="0" i="0" lang="pl" sz="1000" u="none" cap="none" strike="noStrike">
                <a:solidFill>
                  <a:srgbClr val="8A96AD"/>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242" name="Google Shape;242;p17"/>
          <p:cNvSpPr/>
          <p:nvPr/>
        </p:nvSpPr>
        <p:spPr>
          <a:xfrm>
            <a:off x="365760" y="4754880"/>
            <a:ext cx="457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000"/>
              <a:buFont typeface="Calibri"/>
              <a:buNone/>
            </a:pPr>
            <a:r>
              <a:rPr lang="pl" sz="1000">
                <a:solidFill>
                  <a:srgbClr val="8A96AD"/>
                </a:solidFill>
                <a:latin typeface="Calibri"/>
                <a:ea typeface="Calibri"/>
                <a:cs typeface="Calibri"/>
                <a:sym typeface="Calibri"/>
              </a:rPr>
              <a:t>Objętość kuli k-wymiarowej 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30"/>
        </a:solidFill>
      </p:bgPr>
    </p:bg>
    <p:spTree>
      <p:nvGrpSpPr>
        <p:cNvPr id="247" name="Shape 247"/>
        <p:cNvGrpSpPr/>
        <p:nvPr/>
      </p:nvGrpSpPr>
      <p:grpSpPr>
        <a:xfrm>
          <a:off x="0" y="0"/>
          <a:ext cx="0" cy="0"/>
          <a:chOff x="0" y="0"/>
          <a:chExt cx="0" cy="0"/>
        </a:xfrm>
      </p:grpSpPr>
      <p:sp>
        <p:nvSpPr>
          <p:cNvPr id="248" name="Google Shape;248;p18"/>
          <p:cNvSpPr/>
          <p:nvPr/>
        </p:nvSpPr>
        <p:spPr>
          <a:xfrm>
            <a:off x="7406640" y="-1554480"/>
            <a:ext cx="2560200" cy="2560200"/>
          </a:xfrm>
          <a:prstGeom prst="ellipse">
            <a:avLst/>
          </a:prstGeom>
          <a:solidFill>
            <a:srgbClr val="00C2A8">
              <a:alpha val="20000"/>
            </a:srgbClr>
          </a:solidFill>
          <a:ln cap="flat" cmpd="sng" w="19050">
            <a:solidFill>
              <a:srgbClr val="00C2A8">
                <a:alpha val="1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8"/>
          <p:cNvSpPr/>
          <p:nvPr/>
        </p:nvSpPr>
        <p:spPr>
          <a:xfrm>
            <a:off x="7680960" y="731520"/>
            <a:ext cx="1280100" cy="1280100"/>
          </a:xfrm>
          <a:prstGeom prst="ellipse">
            <a:avLst/>
          </a:prstGeom>
          <a:solidFill>
            <a:srgbClr val="7B5EA7">
              <a:alpha val="25099"/>
            </a:srgbClr>
          </a:solidFill>
          <a:ln cap="flat" cmpd="sng" w="19050">
            <a:solidFill>
              <a:srgbClr val="7B5EA7">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8"/>
          <p:cNvSpPr/>
          <p:nvPr/>
        </p:nvSpPr>
        <p:spPr>
          <a:xfrm>
            <a:off x="228600"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8"/>
          <p:cNvSpPr/>
          <p:nvPr/>
        </p:nvSpPr>
        <p:spPr>
          <a:xfrm>
            <a:off x="576072"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8"/>
          <p:cNvSpPr/>
          <p:nvPr/>
        </p:nvSpPr>
        <p:spPr>
          <a:xfrm>
            <a:off x="923544"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8"/>
          <p:cNvSpPr/>
          <p:nvPr/>
        </p:nvSpPr>
        <p:spPr>
          <a:xfrm>
            <a:off x="1271016"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8"/>
          <p:cNvSpPr/>
          <p:nvPr/>
        </p:nvSpPr>
        <p:spPr>
          <a:xfrm>
            <a:off x="1618488"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8"/>
          <p:cNvSpPr/>
          <p:nvPr/>
        </p:nvSpPr>
        <p:spPr>
          <a:xfrm>
            <a:off x="228600"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8"/>
          <p:cNvSpPr/>
          <p:nvPr/>
        </p:nvSpPr>
        <p:spPr>
          <a:xfrm>
            <a:off x="576072"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8"/>
          <p:cNvSpPr/>
          <p:nvPr/>
        </p:nvSpPr>
        <p:spPr>
          <a:xfrm>
            <a:off x="923544"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8"/>
          <p:cNvSpPr/>
          <p:nvPr/>
        </p:nvSpPr>
        <p:spPr>
          <a:xfrm>
            <a:off x="1271016"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8"/>
          <p:cNvSpPr/>
          <p:nvPr/>
        </p:nvSpPr>
        <p:spPr>
          <a:xfrm>
            <a:off x="1618488"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8"/>
          <p:cNvSpPr/>
          <p:nvPr/>
        </p:nvSpPr>
        <p:spPr>
          <a:xfrm>
            <a:off x="228600"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8"/>
          <p:cNvSpPr/>
          <p:nvPr/>
        </p:nvSpPr>
        <p:spPr>
          <a:xfrm>
            <a:off x="576072"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8"/>
          <p:cNvSpPr/>
          <p:nvPr/>
        </p:nvSpPr>
        <p:spPr>
          <a:xfrm>
            <a:off x="923544"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8"/>
          <p:cNvSpPr/>
          <p:nvPr/>
        </p:nvSpPr>
        <p:spPr>
          <a:xfrm>
            <a:off x="1271016"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8"/>
          <p:cNvSpPr/>
          <p:nvPr/>
        </p:nvSpPr>
        <p:spPr>
          <a:xfrm>
            <a:off x="1618488"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8"/>
          <p:cNvSpPr/>
          <p:nvPr/>
        </p:nvSpPr>
        <p:spPr>
          <a:xfrm>
            <a:off x="228600"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8"/>
          <p:cNvSpPr/>
          <p:nvPr/>
        </p:nvSpPr>
        <p:spPr>
          <a:xfrm>
            <a:off x="576072"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8"/>
          <p:cNvSpPr/>
          <p:nvPr/>
        </p:nvSpPr>
        <p:spPr>
          <a:xfrm>
            <a:off x="923544"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8"/>
          <p:cNvSpPr/>
          <p:nvPr/>
        </p:nvSpPr>
        <p:spPr>
          <a:xfrm>
            <a:off x="1271016"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8"/>
          <p:cNvSpPr/>
          <p:nvPr/>
        </p:nvSpPr>
        <p:spPr>
          <a:xfrm>
            <a:off x="1618488"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8"/>
          <p:cNvSpPr/>
          <p:nvPr/>
        </p:nvSpPr>
        <p:spPr>
          <a:xfrm>
            <a:off x="228600"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8"/>
          <p:cNvSpPr/>
          <p:nvPr/>
        </p:nvSpPr>
        <p:spPr>
          <a:xfrm>
            <a:off x="576072"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8"/>
          <p:cNvSpPr/>
          <p:nvPr/>
        </p:nvSpPr>
        <p:spPr>
          <a:xfrm>
            <a:off x="923544"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8"/>
          <p:cNvSpPr/>
          <p:nvPr/>
        </p:nvSpPr>
        <p:spPr>
          <a:xfrm>
            <a:off x="1271016"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8"/>
          <p:cNvSpPr/>
          <p:nvPr/>
        </p:nvSpPr>
        <p:spPr>
          <a:xfrm>
            <a:off x="1618488"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8"/>
          <p:cNvSpPr/>
          <p:nvPr/>
        </p:nvSpPr>
        <p:spPr>
          <a:xfrm>
            <a:off x="0" y="0"/>
            <a:ext cx="9144000" cy="7773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8"/>
          <p:cNvSpPr/>
          <p:nvPr/>
        </p:nvSpPr>
        <p:spPr>
          <a:xfrm>
            <a:off x="0" y="0"/>
            <a:ext cx="164700" cy="7773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8"/>
          <p:cNvSpPr/>
          <p:nvPr/>
        </p:nvSpPr>
        <p:spPr>
          <a:xfrm>
            <a:off x="384048" y="0"/>
            <a:ext cx="7772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lang="pl" sz="2200">
                <a:solidFill>
                  <a:schemeClr val="lt1"/>
                </a:solidFill>
                <a:latin typeface="Calibri"/>
                <a:ea typeface="Calibri"/>
                <a:cs typeface="Calibri"/>
                <a:sym typeface="Calibri"/>
              </a:rPr>
              <a:t>SZACOWANIE OBJĘTOŚCI KULI METODĄ MONTE CARLO</a:t>
            </a:r>
            <a:r>
              <a:rPr lang="pl" sz="2200">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p:txBody>
      </p:sp>
      <p:sp>
        <p:nvSpPr>
          <p:cNvPr id="278" name="Google Shape;278;p18"/>
          <p:cNvSpPr/>
          <p:nvPr/>
        </p:nvSpPr>
        <p:spPr>
          <a:xfrm>
            <a:off x="8321040" y="0"/>
            <a:ext cx="731400" cy="777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C2A8"/>
              </a:buClr>
              <a:buSzPts val="1800"/>
              <a:buFont typeface="Calibri"/>
              <a:buNone/>
            </a:pPr>
            <a:r>
              <a:rPr b="1" i="0" lang="pl" sz="1800" u="none" cap="none" strike="noStrike">
                <a:solidFill>
                  <a:srgbClr val="00C2A8"/>
                </a:solidFill>
                <a:latin typeface="Calibri"/>
                <a:ea typeface="Calibri"/>
                <a:cs typeface="Calibri"/>
                <a:sym typeface="Calibri"/>
              </a:rPr>
              <a:t>0</a:t>
            </a:r>
            <a:r>
              <a:rPr b="1" lang="pl" sz="1800">
                <a:solidFill>
                  <a:srgbClr val="00C2A8"/>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279" name="Google Shape;279;p18"/>
          <p:cNvSpPr/>
          <p:nvPr/>
        </p:nvSpPr>
        <p:spPr>
          <a:xfrm>
            <a:off x="365750" y="960125"/>
            <a:ext cx="2834700" cy="742200"/>
          </a:xfrm>
          <a:prstGeom prst="rect">
            <a:avLst/>
          </a:prstGeom>
          <a:solidFill>
            <a:srgbClr val="152035">
              <a:alpha val="80000"/>
            </a:srgbClr>
          </a:solidFill>
          <a:ln cap="flat" cmpd="sng" w="12700">
            <a:solidFill>
              <a:srgbClr val="00C2A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8"/>
          <p:cNvSpPr/>
          <p:nvPr/>
        </p:nvSpPr>
        <p:spPr>
          <a:xfrm>
            <a:off x="365750" y="960121"/>
            <a:ext cx="63900" cy="7422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8"/>
          <p:cNvSpPr/>
          <p:nvPr/>
        </p:nvSpPr>
        <p:spPr>
          <a:xfrm>
            <a:off x="3410750" y="960125"/>
            <a:ext cx="5367300" cy="1682700"/>
          </a:xfrm>
          <a:prstGeom prst="rect">
            <a:avLst/>
          </a:prstGeom>
          <a:solidFill>
            <a:srgbClr val="1A2E4A">
              <a:alpha val="80000"/>
            </a:srgbClr>
          </a:solidFill>
          <a:ln cap="flat" cmpd="sng" w="12700">
            <a:solidFill>
              <a:srgbClr val="7B5EA7">
                <a:alpha val="45100"/>
              </a:srgbClr>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pl">
                <a:solidFill>
                  <a:schemeClr val="lt1"/>
                </a:solidFill>
              </a:rPr>
              <a:t>Sposób liczenia :</a:t>
            </a:r>
            <a:endParaRPr>
              <a:solidFill>
                <a:schemeClr val="lt1"/>
              </a:solidFill>
            </a:endParaRPr>
          </a:p>
          <a:p>
            <a:pPr indent="0" lvl="0" marL="0" rtl="0" algn="l">
              <a:lnSpc>
                <a:spcPct val="115000"/>
              </a:lnSpc>
              <a:spcBef>
                <a:spcPts val="1200"/>
              </a:spcBef>
              <a:spcAft>
                <a:spcPts val="0"/>
              </a:spcAft>
              <a:buClr>
                <a:schemeClr val="dk1"/>
              </a:buClr>
              <a:buSzPts val="1100"/>
              <a:buFont typeface="Arial"/>
              <a:buNone/>
            </a:pPr>
            <a:r>
              <a:rPr lang="pl" sz="900">
                <a:solidFill>
                  <a:schemeClr val="lt1"/>
                </a:solidFill>
              </a:rPr>
              <a:t>Zamykamy kulę w sześcianie [-1,1]¹⁰ i losujemy n punktów, gdzie każdy punkt ma 10 współrzędnych z przedziału [-1,1]. Dla każdego punktu sprawdzamy warunek:</a:t>
            </a:r>
            <a:endParaRPr sz="9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lang="pl" sz="900">
                <a:solidFill>
                  <a:schemeClr val="lt1"/>
                </a:solidFill>
              </a:rPr>
              <a:t>x₁² + x₂² + … + x₁₀² ≤ 1, gdzie </a:t>
            </a:r>
            <a:r>
              <a:rPr b="1" lang="pl" sz="900">
                <a:solidFill>
                  <a:schemeClr val="lt1"/>
                </a:solidFill>
              </a:rPr>
              <a:t>x</a:t>
            </a:r>
            <a:r>
              <a:rPr lang="pl" sz="900">
                <a:solidFill>
                  <a:schemeClr val="lt1"/>
                </a:solidFill>
              </a:rPr>
              <a:t> oznacza punkt (wektor 10 współrzędnych)</a:t>
            </a:r>
            <a:endParaRPr sz="9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lang="pl" sz="900">
                <a:solidFill>
                  <a:schemeClr val="lt1"/>
                </a:solidFill>
              </a:rPr>
              <a:t>Jeśli jest spełniony — punkt trafił do kuli. Na końcu liczymy:</a:t>
            </a:r>
            <a:endParaRPr sz="9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lang="pl" sz="900">
                <a:solidFill>
                  <a:schemeClr val="lt1"/>
                </a:solidFill>
              </a:rPr>
              <a:t>V ≈ (liczba trafień / n) · 2¹⁰</a:t>
            </a:r>
            <a:endParaRPr sz="900">
              <a:solidFill>
                <a:schemeClr val="lt1"/>
              </a:solidFill>
            </a:endParaRPr>
          </a:p>
          <a:p>
            <a:pPr indent="0" lvl="0" marL="0" rtl="0" algn="l">
              <a:spcBef>
                <a:spcPts val="1200"/>
              </a:spcBef>
              <a:spcAft>
                <a:spcPts val="0"/>
              </a:spcAft>
              <a:buNone/>
            </a:pPr>
            <a:r>
              <a:t/>
            </a:r>
            <a:endParaRPr sz="1000">
              <a:solidFill>
                <a:schemeClr val="lt1"/>
              </a:solidFill>
            </a:endParaRPr>
          </a:p>
        </p:txBody>
      </p:sp>
      <p:sp>
        <p:nvSpPr>
          <p:cNvPr id="282" name="Google Shape;282;p18"/>
          <p:cNvSpPr/>
          <p:nvPr/>
        </p:nvSpPr>
        <p:spPr>
          <a:xfrm>
            <a:off x="3410750" y="960122"/>
            <a:ext cx="63900" cy="1682700"/>
          </a:xfrm>
          <a:prstGeom prst="rect">
            <a:avLst/>
          </a:prstGeom>
          <a:solidFill>
            <a:srgbClr val="7B5EA7">
              <a:alpha val="70200"/>
            </a:srgbClr>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8"/>
          <p:cNvSpPr/>
          <p:nvPr/>
        </p:nvSpPr>
        <p:spPr>
          <a:xfrm>
            <a:off x="0" y="4754880"/>
            <a:ext cx="9144000" cy="3885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8"/>
          <p:cNvSpPr txBox="1"/>
          <p:nvPr/>
        </p:nvSpPr>
        <p:spPr>
          <a:xfrm>
            <a:off x="429650" y="960125"/>
            <a:ext cx="2772000" cy="74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pl">
                <a:solidFill>
                  <a:schemeClr val="lt1"/>
                </a:solidFill>
              </a:rPr>
              <a:t>Zastosowany generator: URAND</a:t>
            </a:r>
            <a:endParaRPr/>
          </a:p>
        </p:txBody>
      </p:sp>
      <p:sp>
        <p:nvSpPr>
          <p:cNvPr id="285" name="Google Shape;285;p18"/>
          <p:cNvSpPr/>
          <p:nvPr/>
        </p:nvSpPr>
        <p:spPr>
          <a:xfrm>
            <a:off x="365750" y="1900800"/>
            <a:ext cx="2834700" cy="742200"/>
          </a:xfrm>
          <a:prstGeom prst="rect">
            <a:avLst/>
          </a:prstGeom>
          <a:solidFill>
            <a:srgbClr val="152035">
              <a:alpha val="80000"/>
            </a:srgbClr>
          </a:solidFill>
          <a:ln cap="flat" cmpd="sng" w="12700">
            <a:solidFill>
              <a:srgbClr val="00C2A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8"/>
          <p:cNvSpPr txBox="1"/>
          <p:nvPr/>
        </p:nvSpPr>
        <p:spPr>
          <a:xfrm>
            <a:off x="438050" y="1885150"/>
            <a:ext cx="2772000" cy="75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pl">
                <a:solidFill>
                  <a:schemeClr val="lt1"/>
                </a:solidFill>
              </a:rPr>
              <a:t>Ilość prób: 1000, 10000</a:t>
            </a:r>
            <a:endParaRPr/>
          </a:p>
        </p:txBody>
      </p:sp>
      <p:sp>
        <p:nvSpPr>
          <p:cNvPr id="287" name="Google Shape;287;p18"/>
          <p:cNvSpPr/>
          <p:nvPr/>
        </p:nvSpPr>
        <p:spPr>
          <a:xfrm>
            <a:off x="365750" y="1900796"/>
            <a:ext cx="63900" cy="7422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8"/>
          <p:cNvSpPr/>
          <p:nvPr/>
        </p:nvSpPr>
        <p:spPr>
          <a:xfrm>
            <a:off x="3410750" y="3097550"/>
            <a:ext cx="4206300" cy="523500"/>
          </a:xfrm>
          <a:prstGeom prst="rect">
            <a:avLst/>
          </a:prstGeom>
          <a:solidFill>
            <a:srgbClr val="152035">
              <a:alpha val="80000"/>
            </a:srgbClr>
          </a:solidFill>
          <a:ln cap="flat" cmpd="sng" w="12700">
            <a:solidFill>
              <a:srgbClr val="00C2A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8"/>
          <p:cNvSpPr txBox="1"/>
          <p:nvPr/>
        </p:nvSpPr>
        <p:spPr>
          <a:xfrm>
            <a:off x="3398600" y="3097550"/>
            <a:ext cx="4218600" cy="46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1700">
                <a:solidFill>
                  <a:srgbClr val="00C2A8"/>
                </a:solidFill>
                <a:latin typeface="Calibri"/>
                <a:ea typeface="Calibri"/>
                <a:cs typeface="Calibri"/>
                <a:sym typeface="Calibri"/>
              </a:rPr>
              <a:t>Oszacowana objętość dla 1000 prób: 2.048</a:t>
            </a:r>
            <a:endParaRPr b="1" sz="1700">
              <a:solidFill>
                <a:srgbClr val="00C2A8"/>
              </a:solidFill>
              <a:latin typeface="Calibri"/>
              <a:ea typeface="Calibri"/>
              <a:cs typeface="Calibri"/>
              <a:sym typeface="Calibri"/>
            </a:endParaRPr>
          </a:p>
        </p:txBody>
      </p:sp>
      <p:sp>
        <p:nvSpPr>
          <p:cNvPr id="290" name="Google Shape;290;p18"/>
          <p:cNvSpPr/>
          <p:nvPr/>
        </p:nvSpPr>
        <p:spPr>
          <a:xfrm>
            <a:off x="3410750" y="3097550"/>
            <a:ext cx="63900" cy="5235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8"/>
          <p:cNvSpPr/>
          <p:nvPr/>
        </p:nvSpPr>
        <p:spPr>
          <a:xfrm>
            <a:off x="3410750" y="3737600"/>
            <a:ext cx="4200300" cy="523500"/>
          </a:xfrm>
          <a:prstGeom prst="rect">
            <a:avLst/>
          </a:prstGeom>
          <a:solidFill>
            <a:srgbClr val="152035">
              <a:alpha val="80000"/>
            </a:srgbClr>
          </a:solidFill>
          <a:ln cap="flat" cmpd="sng" w="12700">
            <a:solidFill>
              <a:srgbClr val="00C2A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8"/>
          <p:cNvSpPr txBox="1"/>
          <p:nvPr/>
        </p:nvSpPr>
        <p:spPr>
          <a:xfrm>
            <a:off x="3410750" y="3737600"/>
            <a:ext cx="4235700" cy="52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1700">
                <a:solidFill>
                  <a:srgbClr val="00C2A8"/>
                </a:solidFill>
                <a:latin typeface="Calibri"/>
                <a:ea typeface="Calibri"/>
                <a:cs typeface="Calibri"/>
                <a:sym typeface="Calibri"/>
              </a:rPr>
              <a:t>Oszacowana objętość dla 10000 prób: 2.2528</a:t>
            </a:r>
            <a:endParaRPr b="1" sz="1700">
              <a:solidFill>
                <a:srgbClr val="00C2A8"/>
              </a:solidFill>
              <a:latin typeface="Calibri"/>
              <a:ea typeface="Calibri"/>
              <a:cs typeface="Calibri"/>
              <a:sym typeface="Calibri"/>
            </a:endParaRPr>
          </a:p>
        </p:txBody>
      </p:sp>
      <p:sp>
        <p:nvSpPr>
          <p:cNvPr id="293" name="Google Shape;293;p18"/>
          <p:cNvSpPr/>
          <p:nvPr/>
        </p:nvSpPr>
        <p:spPr>
          <a:xfrm>
            <a:off x="3410750" y="3743675"/>
            <a:ext cx="63900" cy="5235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8"/>
          <p:cNvSpPr/>
          <p:nvPr/>
        </p:nvSpPr>
        <p:spPr>
          <a:xfrm>
            <a:off x="4572000" y="4754880"/>
            <a:ext cx="4206300" cy="384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6AD"/>
              </a:buClr>
              <a:buSzPts val="1000"/>
              <a:buFont typeface="Calibri"/>
              <a:buNone/>
            </a:pPr>
            <a:r>
              <a:rPr b="0" i="0" lang="pl" sz="1000" u="none" cap="none" strike="noStrike">
                <a:solidFill>
                  <a:srgbClr val="8A96AD"/>
                </a:solidFill>
                <a:latin typeface="Calibri"/>
                <a:ea typeface="Calibri"/>
                <a:cs typeface="Calibri"/>
                <a:sym typeface="Calibri"/>
              </a:rPr>
              <a:t>[ </a:t>
            </a:r>
            <a:r>
              <a:rPr lang="pl" sz="1000">
                <a:solidFill>
                  <a:srgbClr val="8A96AD"/>
                </a:solidFill>
                <a:latin typeface="Calibri"/>
                <a:ea typeface="Calibri"/>
                <a:cs typeface="Calibri"/>
                <a:sym typeface="Calibri"/>
              </a:rPr>
              <a:t>16.05.2026</a:t>
            </a:r>
            <a:r>
              <a:rPr b="0" i="0" lang="pl" sz="1000" u="none" cap="none" strike="noStrike">
                <a:solidFill>
                  <a:srgbClr val="8A96AD"/>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295" name="Google Shape;295;p18"/>
          <p:cNvSpPr/>
          <p:nvPr/>
        </p:nvSpPr>
        <p:spPr>
          <a:xfrm>
            <a:off x="365760" y="4754880"/>
            <a:ext cx="457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000"/>
              <a:buFont typeface="Calibri"/>
              <a:buNone/>
            </a:pPr>
            <a:r>
              <a:rPr lang="pl" sz="1000">
                <a:solidFill>
                  <a:srgbClr val="8A96AD"/>
                </a:solidFill>
                <a:latin typeface="Calibri"/>
                <a:ea typeface="Calibri"/>
                <a:cs typeface="Calibri"/>
                <a:sym typeface="Calibri"/>
              </a:rPr>
              <a:t>Objętość kuli k-wymiarowej 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30"/>
        </a:solidFill>
      </p:bgPr>
    </p:bg>
    <p:spTree>
      <p:nvGrpSpPr>
        <p:cNvPr id="300" name="Shape 300"/>
        <p:cNvGrpSpPr/>
        <p:nvPr/>
      </p:nvGrpSpPr>
      <p:grpSpPr>
        <a:xfrm>
          <a:off x="0" y="0"/>
          <a:ext cx="0" cy="0"/>
          <a:chOff x="0" y="0"/>
          <a:chExt cx="0" cy="0"/>
        </a:xfrm>
      </p:grpSpPr>
      <p:sp>
        <p:nvSpPr>
          <p:cNvPr id="301" name="Google Shape;301;p19"/>
          <p:cNvSpPr/>
          <p:nvPr/>
        </p:nvSpPr>
        <p:spPr>
          <a:xfrm>
            <a:off x="7406640" y="-1554480"/>
            <a:ext cx="2560200" cy="2560200"/>
          </a:xfrm>
          <a:prstGeom prst="ellipse">
            <a:avLst/>
          </a:prstGeom>
          <a:solidFill>
            <a:srgbClr val="00C2A8">
              <a:alpha val="20000"/>
            </a:srgbClr>
          </a:solidFill>
          <a:ln cap="flat" cmpd="sng" w="19050">
            <a:solidFill>
              <a:srgbClr val="00C2A8">
                <a:alpha val="1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9"/>
          <p:cNvSpPr/>
          <p:nvPr/>
        </p:nvSpPr>
        <p:spPr>
          <a:xfrm>
            <a:off x="7680960" y="731520"/>
            <a:ext cx="1280100" cy="1280100"/>
          </a:xfrm>
          <a:prstGeom prst="ellipse">
            <a:avLst/>
          </a:prstGeom>
          <a:solidFill>
            <a:srgbClr val="7B5EA7">
              <a:alpha val="25099"/>
            </a:srgbClr>
          </a:solidFill>
          <a:ln cap="flat" cmpd="sng" w="19050">
            <a:solidFill>
              <a:srgbClr val="7B5EA7">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9"/>
          <p:cNvSpPr/>
          <p:nvPr/>
        </p:nvSpPr>
        <p:spPr>
          <a:xfrm>
            <a:off x="228600"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9"/>
          <p:cNvSpPr/>
          <p:nvPr/>
        </p:nvSpPr>
        <p:spPr>
          <a:xfrm>
            <a:off x="576072"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a:off x="923544"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9"/>
          <p:cNvSpPr/>
          <p:nvPr/>
        </p:nvSpPr>
        <p:spPr>
          <a:xfrm>
            <a:off x="1271016"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9"/>
          <p:cNvSpPr/>
          <p:nvPr/>
        </p:nvSpPr>
        <p:spPr>
          <a:xfrm>
            <a:off x="1618488"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9"/>
          <p:cNvSpPr/>
          <p:nvPr/>
        </p:nvSpPr>
        <p:spPr>
          <a:xfrm>
            <a:off x="228600"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9"/>
          <p:cNvSpPr/>
          <p:nvPr/>
        </p:nvSpPr>
        <p:spPr>
          <a:xfrm>
            <a:off x="576072"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9"/>
          <p:cNvSpPr/>
          <p:nvPr/>
        </p:nvSpPr>
        <p:spPr>
          <a:xfrm>
            <a:off x="923544"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9"/>
          <p:cNvSpPr/>
          <p:nvPr/>
        </p:nvSpPr>
        <p:spPr>
          <a:xfrm>
            <a:off x="1271016"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9"/>
          <p:cNvSpPr/>
          <p:nvPr/>
        </p:nvSpPr>
        <p:spPr>
          <a:xfrm>
            <a:off x="1618488"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9"/>
          <p:cNvSpPr/>
          <p:nvPr/>
        </p:nvSpPr>
        <p:spPr>
          <a:xfrm>
            <a:off x="228600"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9"/>
          <p:cNvSpPr/>
          <p:nvPr/>
        </p:nvSpPr>
        <p:spPr>
          <a:xfrm>
            <a:off x="576072"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9"/>
          <p:cNvSpPr/>
          <p:nvPr/>
        </p:nvSpPr>
        <p:spPr>
          <a:xfrm>
            <a:off x="923544"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9"/>
          <p:cNvSpPr/>
          <p:nvPr/>
        </p:nvSpPr>
        <p:spPr>
          <a:xfrm>
            <a:off x="1271016"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9"/>
          <p:cNvSpPr/>
          <p:nvPr/>
        </p:nvSpPr>
        <p:spPr>
          <a:xfrm>
            <a:off x="1618488"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9"/>
          <p:cNvSpPr/>
          <p:nvPr/>
        </p:nvSpPr>
        <p:spPr>
          <a:xfrm>
            <a:off x="228600"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9"/>
          <p:cNvSpPr/>
          <p:nvPr/>
        </p:nvSpPr>
        <p:spPr>
          <a:xfrm>
            <a:off x="576072"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9"/>
          <p:cNvSpPr/>
          <p:nvPr/>
        </p:nvSpPr>
        <p:spPr>
          <a:xfrm>
            <a:off x="923544"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9"/>
          <p:cNvSpPr/>
          <p:nvPr/>
        </p:nvSpPr>
        <p:spPr>
          <a:xfrm>
            <a:off x="1271016"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9"/>
          <p:cNvSpPr/>
          <p:nvPr/>
        </p:nvSpPr>
        <p:spPr>
          <a:xfrm>
            <a:off x="1618488"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9"/>
          <p:cNvSpPr/>
          <p:nvPr/>
        </p:nvSpPr>
        <p:spPr>
          <a:xfrm>
            <a:off x="228600"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9"/>
          <p:cNvSpPr/>
          <p:nvPr/>
        </p:nvSpPr>
        <p:spPr>
          <a:xfrm>
            <a:off x="576072"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9"/>
          <p:cNvSpPr/>
          <p:nvPr/>
        </p:nvSpPr>
        <p:spPr>
          <a:xfrm>
            <a:off x="923544"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9"/>
          <p:cNvSpPr/>
          <p:nvPr/>
        </p:nvSpPr>
        <p:spPr>
          <a:xfrm>
            <a:off x="1271016"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9"/>
          <p:cNvSpPr/>
          <p:nvPr/>
        </p:nvSpPr>
        <p:spPr>
          <a:xfrm>
            <a:off x="1618488"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9"/>
          <p:cNvSpPr/>
          <p:nvPr/>
        </p:nvSpPr>
        <p:spPr>
          <a:xfrm>
            <a:off x="0" y="0"/>
            <a:ext cx="9144000" cy="7773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9"/>
          <p:cNvSpPr/>
          <p:nvPr/>
        </p:nvSpPr>
        <p:spPr>
          <a:xfrm>
            <a:off x="0" y="0"/>
            <a:ext cx="164700" cy="7773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9"/>
          <p:cNvSpPr/>
          <p:nvPr/>
        </p:nvSpPr>
        <p:spPr>
          <a:xfrm>
            <a:off x="384048" y="0"/>
            <a:ext cx="7772400" cy="77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2200"/>
              <a:buFont typeface="Calibri"/>
              <a:buNone/>
            </a:pPr>
            <a:r>
              <a:rPr lang="pl" sz="2200">
                <a:solidFill>
                  <a:schemeClr val="lt1"/>
                </a:solidFill>
                <a:latin typeface="Calibri"/>
                <a:ea typeface="Calibri"/>
                <a:cs typeface="Calibri"/>
                <a:sym typeface="Calibri"/>
              </a:rPr>
              <a:t>SZACOWANIE</a:t>
            </a:r>
            <a:r>
              <a:rPr lang="pl" sz="2200">
                <a:solidFill>
                  <a:schemeClr val="lt1"/>
                </a:solidFill>
                <a:latin typeface="Calibri"/>
                <a:ea typeface="Calibri"/>
                <a:cs typeface="Calibri"/>
                <a:sym typeface="Calibri"/>
              </a:rPr>
              <a:t> OBJĘTOŚCI KULI METODĄ MONTE CARLO (Kod)</a:t>
            </a:r>
            <a:endParaRPr b="0" i="0" sz="2200" u="none" cap="none" strike="noStrike">
              <a:solidFill>
                <a:schemeClr val="dk1"/>
              </a:solidFill>
              <a:latin typeface="Calibri"/>
              <a:ea typeface="Calibri"/>
              <a:cs typeface="Calibri"/>
              <a:sym typeface="Calibri"/>
            </a:endParaRPr>
          </a:p>
        </p:txBody>
      </p:sp>
      <p:sp>
        <p:nvSpPr>
          <p:cNvPr id="331" name="Google Shape;331;p19"/>
          <p:cNvSpPr/>
          <p:nvPr/>
        </p:nvSpPr>
        <p:spPr>
          <a:xfrm>
            <a:off x="8321040" y="0"/>
            <a:ext cx="731400" cy="777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C2A8"/>
              </a:buClr>
              <a:buSzPts val="1800"/>
              <a:buFont typeface="Calibri"/>
              <a:buNone/>
            </a:pPr>
            <a:r>
              <a:rPr b="1" lang="pl" sz="1800">
                <a:solidFill>
                  <a:srgbClr val="00C2A8"/>
                </a:solidFill>
                <a:latin typeface="Calibri"/>
                <a:ea typeface="Calibri"/>
                <a:cs typeface="Calibri"/>
                <a:sym typeface="Calibri"/>
              </a:rPr>
              <a:t>04</a:t>
            </a:r>
            <a:endParaRPr b="0" i="0" sz="1800" u="none" cap="none" strike="noStrike">
              <a:solidFill>
                <a:schemeClr val="dk1"/>
              </a:solidFill>
              <a:latin typeface="Calibri"/>
              <a:ea typeface="Calibri"/>
              <a:cs typeface="Calibri"/>
              <a:sym typeface="Calibri"/>
            </a:endParaRPr>
          </a:p>
        </p:txBody>
      </p:sp>
      <p:sp>
        <p:nvSpPr>
          <p:cNvPr id="332" name="Google Shape;332;p19"/>
          <p:cNvSpPr/>
          <p:nvPr/>
        </p:nvSpPr>
        <p:spPr>
          <a:xfrm>
            <a:off x="0" y="4754880"/>
            <a:ext cx="9144000" cy="3885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9"/>
          <p:cNvSpPr/>
          <p:nvPr/>
        </p:nvSpPr>
        <p:spPr>
          <a:xfrm>
            <a:off x="177350" y="784625"/>
            <a:ext cx="4101900" cy="3962400"/>
          </a:xfrm>
          <a:prstGeom prst="rect">
            <a:avLst/>
          </a:prstGeom>
          <a:solidFill>
            <a:srgbClr val="1A2E4A">
              <a:alpha val="80000"/>
            </a:srgbClr>
          </a:solidFill>
          <a:ln cap="flat" cmpd="sng" w="12700">
            <a:solidFill>
              <a:srgbClr val="7B5EA7">
                <a:alpha val="451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9"/>
          <p:cNvSpPr/>
          <p:nvPr/>
        </p:nvSpPr>
        <p:spPr>
          <a:xfrm>
            <a:off x="4686650" y="792475"/>
            <a:ext cx="4101900" cy="3962400"/>
          </a:xfrm>
          <a:prstGeom prst="rect">
            <a:avLst/>
          </a:prstGeom>
          <a:solidFill>
            <a:srgbClr val="E67F43">
              <a:alpha val="13500"/>
            </a:srgbClr>
          </a:solidFill>
          <a:ln cap="flat" cmpd="sng" w="12700">
            <a:solidFill>
              <a:srgbClr val="E67F43">
                <a:alpha val="451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9"/>
          <p:cNvSpPr txBox="1"/>
          <p:nvPr/>
        </p:nvSpPr>
        <p:spPr>
          <a:xfrm>
            <a:off x="228600" y="784625"/>
            <a:ext cx="4050600" cy="65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pl" sz="1700">
                <a:solidFill>
                  <a:srgbClr val="7B5EA7"/>
                </a:solidFill>
              </a:rPr>
              <a:t>SciNotes :</a:t>
            </a:r>
            <a:endParaRPr i="1" sz="1700">
              <a:solidFill>
                <a:srgbClr val="7B5EA7"/>
              </a:solidFill>
              <a:highlight>
                <a:schemeClr val="lt1"/>
              </a:highlight>
            </a:endParaRPr>
          </a:p>
        </p:txBody>
      </p:sp>
      <p:sp>
        <p:nvSpPr>
          <p:cNvPr id="336" name="Google Shape;336;p19"/>
          <p:cNvSpPr txBox="1"/>
          <p:nvPr/>
        </p:nvSpPr>
        <p:spPr>
          <a:xfrm>
            <a:off x="4752650" y="784625"/>
            <a:ext cx="4025700" cy="65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pl" sz="1700">
                <a:solidFill>
                  <a:srgbClr val="7B5EA7"/>
                </a:solidFill>
              </a:rPr>
              <a:t>Scilab Console</a:t>
            </a:r>
            <a:endParaRPr sz="1700">
              <a:solidFill>
                <a:srgbClr val="7B5EA7"/>
              </a:solidFill>
              <a:highlight>
                <a:schemeClr val="lt1"/>
              </a:highlight>
            </a:endParaRPr>
          </a:p>
        </p:txBody>
      </p:sp>
      <p:sp>
        <p:nvSpPr>
          <p:cNvPr id="337" name="Google Shape;337;p19"/>
          <p:cNvSpPr/>
          <p:nvPr/>
        </p:nvSpPr>
        <p:spPr>
          <a:xfrm>
            <a:off x="4686650" y="784625"/>
            <a:ext cx="63900" cy="3962400"/>
          </a:xfrm>
          <a:prstGeom prst="rect">
            <a:avLst/>
          </a:prstGeom>
          <a:solidFill>
            <a:srgbClr val="E67F43"/>
          </a:solidFill>
          <a:ln cap="flat" cmpd="sng" w="12700">
            <a:solidFill>
              <a:srgbClr val="E5996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9"/>
          <p:cNvSpPr/>
          <p:nvPr/>
        </p:nvSpPr>
        <p:spPr>
          <a:xfrm>
            <a:off x="177350" y="784625"/>
            <a:ext cx="63900" cy="3962400"/>
          </a:xfrm>
          <a:prstGeom prst="rect">
            <a:avLst/>
          </a:prstGeom>
          <a:solidFill>
            <a:srgbClr val="7B5EA7">
              <a:alpha val="70200"/>
            </a:srgbClr>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9"/>
          <p:cNvSpPr/>
          <p:nvPr/>
        </p:nvSpPr>
        <p:spPr>
          <a:xfrm>
            <a:off x="283500" y="1170400"/>
            <a:ext cx="3943500" cy="3493200"/>
          </a:xfrm>
          <a:prstGeom prst="rect">
            <a:avLst/>
          </a:prstGeom>
          <a:solidFill>
            <a:srgbClr val="152035">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9"/>
          <p:cNvSpPr txBox="1"/>
          <p:nvPr/>
        </p:nvSpPr>
        <p:spPr>
          <a:xfrm>
            <a:off x="241250" y="1083788"/>
            <a:ext cx="3985800" cy="35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800">
                <a:solidFill>
                  <a:schemeClr val="lt1"/>
                </a:solidFill>
              </a:rPr>
              <a:t>k = 10;</a:t>
            </a:r>
            <a:endParaRPr sz="800">
              <a:solidFill>
                <a:schemeClr val="lt1"/>
              </a:solidFill>
            </a:endParaRPr>
          </a:p>
          <a:p>
            <a:pPr indent="0" lvl="0" marL="0" rtl="0" algn="l">
              <a:spcBef>
                <a:spcPts val="0"/>
              </a:spcBef>
              <a:spcAft>
                <a:spcPts val="0"/>
              </a:spcAft>
              <a:buNone/>
            </a:pPr>
            <a:r>
              <a:rPr lang="pl" sz="800">
                <a:solidFill>
                  <a:schemeClr val="lt1"/>
                </a:solidFill>
              </a:rPr>
              <a:t>V_dokladne = (2/k) * ((%pi)^(k/2)) / gamma(k/2);</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rPr lang="pl" sz="800">
                <a:solidFill>
                  <a:schemeClr val="lt1"/>
                </a:solidFill>
              </a:rPr>
              <a:t>function V=</a:t>
            </a:r>
            <a:r>
              <a:rPr lang="pl" sz="800" u="sng">
                <a:solidFill>
                  <a:schemeClr val="lt1"/>
                </a:solidFill>
              </a:rPr>
              <a:t>monte_carlo_kula</a:t>
            </a:r>
            <a:r>
              <a:rPr lang="pl" sz="800">
                <a:solidFill>
                  <a:schemeClr val="lt1"/>
                </a:solidFill>
              </a:rPr>
              <a:t>(n, k)</a:t>
            </a:r>
            <a:endParaRPr sz="800">
              <a:solidFill>
                <a:schemeClr val="lt1"/>
              </a:solidFill>
            </a:endParaRPr>
          </a:p>
          <a:p>
            <a:pPr indent="0" lvl="0" marL="0" rtl="0" algn="l">
              <a:spcBef>
                <a:spcPts val="0"/>
              </a:spcBef>
              <a:spcAft>
                <a:spcPts val="0"/>
              </a:spcAft>
              <a:buNone/>
            </a:pPr>
            <a:r>
              <a:rPr lang="pl" sz="800">
                <a:solidFill>
                  <a:schemeClr val="lt1"/>
                </a:solidFill>
              </a:rPr>
              <a:t>    punkty = 2 * rand(n, k) - 1;</a:t>
            </a:r>
            <a:endParaRPr sz="800">
              <a:solidFill>
                <a:schemeClr val="lt1"/>
              </a:solidFill>
            </a:endParaRPr>
          </a:p>
          <a:p>
            <a:pPr indent="0" lvl="0" marL="0" rtl="0" algn="l">
              <a:spcBef>
                <a:spcPts val="0"/>
              </a:spcBef>
              <a:spcAft>
                <a:spcPts val="0"/>
              </a:spcAft>
              <a:buNone/>
            </a:pPr>
            <a:r>
              <a:rPr lang="pl" sz="800">
                <a:solidFill>
                  <a:schemeClr val="lt1"/>
                </a:solidFill>
              </a:rPr>
              <a:t>    odleglosc_kwadrat = sum(punkty .^ 2, 2);</a:t>
            </a:r>
            <a:endParaRPr sz="800">
              <a:solidFill>
                <a:schemeClr val="lt1"/>
              </a:solidFill>
            </a:endParaRPr>
          </a:p>
          <a:p>
            <a:pPr indent="0" lvl="0" marL="0" rtl="0" algn="l">
              <a:spcBef>
                <a:spcPts val="0"/>
              </a:spcBef>
              <a:spcAft>
                <a:spcPts val="0"/>
              </a:spcAft>
              <a:buNone/>
            </a:pPr>
            <a:r>
              <a:rPr lang="pl" sz="800">
                <a:solidFill>
                  <a:schemeClr val="lt1"/>
                </a:solidFill>
              </a:rPr>
              <a:t>    trafione = sum(odleglosc_kwadrat &lt;= 1);</a:t>
            </a:r>
            <a:endParaRPr sz="800">
              <a:solidFill>
                <a:schemeClr val="lt1"/>
              </a:solidFill>
            </a:endParaRPr>
          </a:p>
          <a:p>
            <a:pPr indent="0" lvl="0" marL="0" rtl="0" algn="l">
              <a:spcBef>
                <a:spcPts val="0"/>
              </a:spcBef>
              <a:spcAft>
                <a:spcPts val="0"/>
              </a:spcAft>
              <a:buNone/>
            </a:pPr>
            <a:r>
              <a:rPr lang="pl" sz="800">
                <a:solidFill>
                  <a:schemeClr val="lt1"/>
                </a:solidFill>
              </a:rPr>
              <a:t>    V_szescian = 2^k;</a:t>
            </a:r>
            <a:endParaRPr sz="800">
              <a:solidFill>
                <a:schemeClr val="lt1"/>
              </a:solidFill>
            </a:endParaRPr>
          </a:p>
          <a:p>
            <a:pPr indent="0" lvl="0" marL="0" rtl="0" algn="l">
              <a:spcBef>
                <a:spcPts val="0"/>
              </a:spcBef>
              <a:spcAft>
                <a:spcPts val="0"/>
              </a:spcAft>
              <a:buNone/>
            </a:pPr>
            <a:r>
              <a:rPr lang="pl" sz="800">
                <a:solidFill>
                  <a:schemeClr val="lt1"/>
                </a:solidFill>
              </a:rPr>
              <a:t>    V = (trafione / n) * V_szescian;</a:t>
            </a:r>
            <a:endParaRPr sz="800">
              <a:solidFill>
                <a:schemeClr val="lt1"/>
              </a:solidFill>
            </a:endParaRPr>
          </a:p>
          <a:p>
            <a:pPr indent="0" lvl="0" marL="0" rtl="0" algn="l">
              <a:spcBef>
                <a:spcPts val="0"/>
              </a:spcBef>
              <a:spcAft>
                <a:spcPts val="0"/>
              </a:spcAft>
              <a:buNone/>
            </a:pPr>
            <a:r>
              <a:rPr lang="pl" sz="800">
                <a:solidFill>
                  <a:schemeClr val="lt1"/>
                </a:solidFill>
              </a:rPr>
              <a:t>endfunction</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rPr lang="pl" sz="800">
                <a:solidFill>
                  <a:schemeClr val="lt1"/>
                </a:solidFill>
              </a:rPr>
              <a:t>n1 = 1000;</a:t>
            </a:r>
            <a:endParaRPr sz="800">
              <a:solidFill>
                <a:schemeClr val="lt1"/>
              </a:solidFill>
            </a:endParaRPr>
          </a:p>
          <a:p>
            <a:pPr indent="0" lvl="0" marL="0" rtl="0" algn="l">
              <a:spcBef>
                <a:spcPts val="0"/>
              </a:spcBef>
              <a:spcAft>
                <a:spcPts val="0"/>
              </a:spcAft>
              <a:buNone/>
            </a:pPr>
            <a:r>
              <a:rPr lang="pl" sz="800">
                <a:solidFill>
                  <a:schemeClr val="lt1"/>
                </a:solidFill>
              </a:rPr>
              <a:t>V_mc_1000 = </a:t>
            </a:r>
            <a:r>
              <a:rPr lang="pl" sz="800" u="sng">
                <a:solidFill>
                  <a:schemeClr val="lt1"/>
                </a:solidFill>
              </a:rPr>
              <a:t>monte_carlo_kula</a:t>
            </a:r>
            <a:r>
              <a:rPr lang="pl" sz="800">
                <a:solidFill>
                  <a:schemeClr val="lt1"/>
                </a:solidFill>
              </a:rPr>
              <a:t>(n1, k);</a:t>
            </a:r>
            <a:endParaRPr sz="800">
              <a:solidFill>
                <a:schemeClr val="lt1"/>
              </a:solidFill>
            </a:endParaRPr>
          </a:p>
          <a:p>
            <a:pPr indent="0" lvl="0" marL="0" rtl="0" algn="l">
              <a:spcBef>
                <a:spcPts val="0"/>
              </a:spcBef>
              <a:spcAft>
                <a:spcPts val="0"/>
              </a:spcAft>
              <a:buNone/>
            </a:pPr>
            <a:r>
              <a:rPr lang="pl" sz="800">
                <a:solidFill>
                  <a:schemeClr val="lt1"/>
                </a:solidFill>
              </a:rPr>
              <a:t>blad_1000 = abs(V_mc_1000 - V_dokladne);</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rPr lang="pl" sz="800">
                <a:solidFill>
                  <a:schemeClr val="lt1"/>
                </a:solidFill>
              </a:rPr>
              <a:t>disp("Dla n = 1000 prób:");</a:t>
            </a:r>
            <a:endParaRPr sz="800">
              <a:solidFill>
                <a:schemeClr val="lt1"/>
              </a:solidFill>
            </a:endParaRPr>
          </a:p>
          <a:p>
            <a:pPr indent="0" lvl="0" marL="0" rtl="0" algn="l">
              <a:spcBef>
                <a:spcPts val="0"/>
              </a:spcBef>
              <a:spcAft>
                <a:spcPts val="0"/>
              </a:spcAft>
              <a:buNone/>
            </a:pPr>
            <a:r>
              <a:rPr lang="pl" sz="800">
                <a:solidFill>
                  <a:schemeClr val="lt1"/>
                </a:solidFill>
              </a:rPr>
              <a:t>disp("  V_oszacowane = " + string(V_mc_1000));</a:t>
            </a:r>
            <a:endParaRPr sz="800">
              <a:solidFill>
                <a:schemeClr val="lt1"/>
              </a:solidFill>
            </a:endParaRPr>
          </a:p>
          <a:p>
            <a:pPr indent="0" lvl="0" marL="0" rtl="0" algn="l">
              <a:spcBef>
                <a:spcPts val="0"/>
              </a:spcBef>
              <a:spcAft>
                <a:spcPts val="0"/>
              </a:spcAft>
              <a:buNone/>
            </a:pPr>
            <a:r>
              <a:rPr lang="pl" sz="800">
                <a:solidFill>
                  <a:schemeClr val="lt1"/>
                </a:solidFill>
              </a:rPr>
              <a:t>disp("  Błąd bezwzględny = " + string(blad_1000));</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rPr lang="pl" sz="800">
                <a:solidFill>
                  <a:schemeClr val="lt1"/>
                </a:solidFill>
              </a:rPr>
              <a:t>disp(" ");</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rPr lang="pl" sz="800">
                <a:solidFill>
                  <a:schemeClr val="lt1"/>
                </a:solidFill>
              </a:rPr>
              <a:t>n2 = 10000;</a:t>
            </a:r>
            <a:endParaRPr sz="800">
              <a:solidFill>
                <a:schemeClr val="lt1"/>
              </a:solidFill>
            </a:endParaRPr>
          </a:p>
          <a:p>
            <a:pPr indent="0" lvl="0" marL="0" rtl="0" algn="l">
              <a:spcBef>
                <a:spcPts val="0"/>
              </a:spcBef>
              <a:spcAft>
                <a:spcPts val="0"/>
              </a:spcAft>
              <a:buNone/>
            </a:pPr>
            <a:r>
              <a:rPr lang="pl" sz="800">
                <a:solidFill>
                  <a:schemeClr val="lt1"/>
                </a:solidFill>
              </a:rPr>
              <a:t>V_mc_10000 = </a:t>
            </a:r>
            <a:r>
              <a:rPr lang="pl" sz="800" u="sng">
                <a:solidFill>
                  <a:schemeClr val="lt1"/>
                </a:solidFill>
              </a:rPr>
              <a:t>monte_carlo_kula</a:t>
            </a:r>
            <a:r>
              <a:rPr lang="pl" sz="800">
                <a:solidFill>
                  <a:schemeClr val="lt1"/>
                </a:solidFill>
              </a:rPr>
              <a:t>(n2, k);</a:t>
            </a:r>
            <a:endParaRPr sz="800">
              <a:solidFill>
                <a:schemeClr val="lt1"/>
              </a:solidFill>
            </a:endParaRPr>
          </a:p>
          <a:p>
            <a:pPr indent="0" lvl="0" marL="0" rtl="0" algn="l">
              <a:spcBef>
                <a:spcPts val="0"/>
              </a:spcBef>
              <a:spcAft>
                <a:spcPts val="0"/>
              </a:spcAft>
              <a:buNone/>
            </a:pPr>
            <a:r>
              <a:rPr lang="pl" sz="800">
                <a:solidFill>
                  <a:schemeClr val="lt1"/>
                </a:solidFill>
              </a:rPr>
              <a:t>blad_10000 = abs(V_mc_10000 - V_dokladne);</a:t>
            </a:r>
            <a:endParaRPr sz="800">
              <a:solidFill>
                <a:schemeClr val="lt1"/>
              </a:solidFill>
            </a:endParaRPr>
          </a:p>
          <a:p>
            <a:pPr indent="0" lvl="0" marL="0" rtl="0" algn="l">
              <a:spcBef>
                <a:spcPts val="0"/>
              </a:spcBef>
              <a:spcAft>
                <a:spcPts val="0"/>
              </a:spcAft>
              <a:buNone/>
            </a:pPr>
            <a:r>
              <a:t/>
            </a:r>
            <a:endParaRPr sz="800">
              <a:solidFill>
                <a:schemeClr val="lt1"/>
              </a:solidFill>
            </a:endParaRPr>
          </a:p>
          <a:p>
            <a:pPr indent="0" lvl="0" marL="0" rtl="0" algn="l">
              <a:spcBef>
                <a:spcPts val="0"/>
              </a:spcBef>
              <a:spcAft>
                <a:spcPts val="0"/>
              </a:spcAft>
              <a:buNone/>
            </a:pPr>
            <a:r>
              <a:rPr lang="pl" sz="800">
                <a:solidFill>
                  <a:schemeClr val="lt1"/>
                </a:solidFill>
              </a:rPr>
              <a:t>disp("Dla n = 10000 prób:");</a:t>
            </a:r>
            <a:endParaRPr sz="800">
              <a:solidFill>
                <a:schemeClr val="lt1"/>
              </a:solidFill>
            </a:endParaRPr>
          </a:p>
          <a:p>
            <a:pPr indent="0" lvl="0" marL="0" rtl="0" algn="l">
              <a:spcBef>
                <a:spcPts val="0"/>
              </a:spcBef>
              <a:spcAft>
                <a:spcPts val="0"/>
              </a:spcAft>
              <a:buNone/>
            </a:pPr>
            <a:r>
              <a:rPr lang="pl" sz="800">
                <a:solidFill>
                  <a:schemeClr val="lt1"/>
                </a:solidFill>
              </a:rPr>
              <a:t>disp("  V_oszacowane = " + string(V_mc_10000));</a:t>
            </a:r>
            <a:endParaRPr sz="800">
              <a:solidFill>
                <a:schemeClr val="lt1"/>
              </a:solidFill>
            </a:endParaRPr>
          </a:p>
          <a:p>
            <a:pPr indent="0" lvl="0" marL="0" rtl="0" algn="l">
              <a:spcBef>
                <a:spcPts val="0"/>
              </a:spcBef>
              <a:spcAft>
                <a:spcPts val="0"/>
              </a:spcAft>
              <a:buClr>
                <a:schemeClr val="dk1"/>
              </a:buClr>
              <a:buSzPts val="1100"/>
              <a:buFont typeface="Arial"/>
              <a:buNone/>
            </a:pPr>
            <a:r>
              <a:rPr lang="pl" sz="800">
                <a:solidFill>
                  <a:schemeClr val="lt1"/>
                </a:solidFill>
              </a:rPr>
              <a:t>disp("  Błąd bezwzględny = " + string(blad_10000));</a:t>
            </a:r>
            <a:endParaRPr sz="800">
              <a:solidFill>
                <a:schemeClr val="lt1"/>
              </a:solidFill>
            </a:endParaRPr>
          </a:p>
          <a:p>
            <a:pPr indent="0" lvl="0" marL="0" rtl="0" algn="l">
              <a:spcBef>
                <a:spcPts val="0"/>
              </a:spcBef>
              <a:spcAft>
                <a:spcPts val="0"/>
              </a:spcAft>
              <a:buNone/>
            </a:pPr>
            <a:r>
              <a:t/>
            </a:r>
            <a:endParaRPr sz="900">
              <a:solidFill>
                <a:schemeClr val="lt1"/>
              </a:solidFill>
            </a:endParaRPr>
          </a:p>
        </p:txBody>
      </p:sp>
      <p:sp>
        <p:nvSpPr>
          <p:cNvPr id="341" name="Google Shape;341;p19"/>
          <p:cNvSpPr/>
          <p:nvPr/>
        </p:nvSpPr>
        <p:spPr>
          <a:xfrm>
            <a:off x="4826150" y="1170400"/>
            <a:ext cx="3913200" cy="3493200"/>
          </a:xfrm>
          <a:prstGeom prst="rect">
            <a:avLst/>
          </a:prstGeom>
          <a:solidFill>
            <a:srgbClr val="152035">
              <a:alpha val="80000"/>
            </a:srgbClr>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sz="1150">
                <a:solidFill>
                  <a:schemeClr val="lt1"/>
                </a:solidFill>
              </a:rPr>
              <a:t>Dla n = 1000 prób:"</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V_oszacowane = 2.048"</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Błąd bezwzględny = 0.502164"</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"Dla n = 10000 prób:"</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V_oszacowane = 2.2528"</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Błąd bezwzględny = 0.297364"</a:t>
            </a:r>
            <a:endParaRPr sz="1150">
              <a:solidFill>
                <a:schemeClr val="lt1"/>
              </a:solidFill>
            </a:endParaRPr>
          </a:p>
        </p:txBody>
      </p:sp>
      <p:sp>
        <p:nvSpPr>
          <p:cNvPr id="342" name="Google Shape;342;p19"/>
          <p:cNvSpPr/>
          <p:nvPr/>
        </p:nvSpPr>
        <p:spPr>
          <a:xfrm>
            <a:off x="4572000" y="4754880"/>
            <a:ext cx="4206300" cy="384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6AD"/>
              </a:buClr>
              <a:buSzPts val="1000"/>
              <a:buFont typeface="Calibri"/>
              <a:buNone/>
            </a:pPr>
            <a:r>
              <a:rPr b="0" i="0" lang="pl" sz="1000" u="none" cap="none" strike="noStrike">
                <a:solidFill>
                  <a:srgbClr val="8A96AD"/>
                </a:solidFill>
                <a:latin typeface="Calibri"/>
                <a:ea typeface="Calibri"/>
                <a:cs typeface="Calibri"/>
                <a:sym typeface="Calibri"/>
              </a:rPr>
              <a:t>[ </a:t>
            </a:r>
            <a:r>
              <a:rPr lang="pl" sz="1000">
                <a:solidFill>
                  <a:srgbClr val="8A96AD"/>
                </a:solidFill>
                <a:latin typeface="Calibri"/>
                <a:ea typeface="Calibri"/>
                <a:cs typeface="Calibri"/>
                <a:sym typeface="Calibri"/>
              </a:rPr>
              <a:t>16.05.2026</a:t>
            </a:r>
            <a:r>
              <a:rPr b="0" i="0" lang="pl" sz="1000" u="none" cap="none" strike="noStrike">
                <a:solidFill>
                  <a:srgbClr val="8A96AD"/>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343" name="Google Shape;343;p19"/>
          <p:cNvSpPr/>
          <p:nvPr/>
        </p:nvSpPr>
        <p:spPr>
          <a:xfrm>
            <a:off x="365760" y="4754880"/>
            <a:ext cx="457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000"/>
              <a:buFont typeface="Calibri"/>
              <a:buNone/>
            </a:pPr>
            <a:r>
              <a:rPr lang="pl" sz="1000">
                <a:solidFill>
                  <a:srgbClr val="8A96AD"/>
                </a:solidFill>
                <a:latin typeface="Calibri"/>
                <a:ea typeface="Calibri"/>
                <a:cs typeface="Calibri"/>
                <a:sym typeface="Calibri"/>
              </a:rPr>
              <a:t>Objętość kuli k-wymiarowej 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30"/>
        </a:solidFill>
      </p:bgPr>
    </p:bg>
    <p:spTree>
      <p:nvGrpSpPr>
        <p:cNvPr id="348" name="Shape 348"/>
        <p:cNvGrpSpPr/>
        <p:nvPr/>
      </p:nvGrpSpPr>
      <p:grpSpPr>
        <a:xfrm>
          <a:off x="0" y="0"/>
          <a:ext cx="0" cy="0"/>
          <a:chOff x="0" y="0"/>
          <a:chExt cx="0" cy="0"/>
        </a:xfrm>
      </p:grpSpPr>
      <p:sp>
        <p:nvSpPr>
          <p:cNvPr id="349" name="Google Shape;349;p20"/>
          <p:cNvSpPr/>
          <p:nvPr/>
        </p:nvSpPr>
        <p:spPr>
          <a:xfrm>
            <a:off x="7406640" y="-1554480"/>
            <a:ext cx="2560200" cy="2560200"/>
          </a:xfrm>
          <a:prstGeom prst="ellipse">
            <a:avLst/>
          </a:prstGeom>
          <a:solidFill>
            <a:srgbClr val="00C2A8">
              <a:alpha val="20000"/>
            </a:srgbClr>
          </a:solidFill>
          <a:ln cap="flat" cmpd="sng" w="19050">
            <a:solidFill>
              <a:srgbClr val="00C2A8">
                <a:alpha val="1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0"/>
          <p:cNvSpPr/>
          <p:nvPr/>
        </p:nvSpPr>
        <p:spPr>
          <a:xfrm>
            <a:off x="7680960" y="731520"/>
            <a:ext cx="1280100" cy="1280100"/>
          </a:xfrm>
          <a:prstGeom prst="ellipse">
            <a:avLst/>
          </a:prstGeom>
          <a:solidFill>
            <a:srgbClr val="7B5EA7">
              <a:alpha val="25099"/>
            </a:srgbClr>
          </a:solidFill>
          <a:ln cap="flat" cmpd="sng" w="19050">
            <a:solidFill>
              <a:srgbClr val="7B5EA7">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0"/>
          <p:cNvSpPr/>
          <p:nvPr/>
        </p:nvSpPr>
        <p:spPr>
          <a:xfrm>
            <a:off x="228600"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0"/>
          <p:cNvSpPr/>
          <p:nvPr/>
        </p:nvSpPr>
        <p:spPr>
          <a:xfrm>
            <a:off x="576072"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0"/>
          <p:cNvSpPr/>
          <p:nvPr/>
        </p:nvSpPr>
        <p:spPr>
          <a:xfrm>
            <a:off x="923544"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0"/>
          <p:cNvSpPr/>
          <p:nvPr/>
        </p:nvSpPr>
        <p:spPr>
          <a:xfrm>
            <a:off x="1271016"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0"/>
          <p:cNvSpPr/>
          <p:nvPr/>
        </p:nvSpPr>
        <p:spPr>
          <a:xfrm>
            <a:off x="1618488"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0"/>
          <p:cNvSpPr/>
          <p:nvPr/>
        </p:nvSpPr>
        <p:spPr>
          <a:xfrm>
            <a:off x="228600"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0"/>
          <p:cNvSpPr/>
          <p:nvPr/>
        </p:nvSpPr>
        <p:spPr>
          <a:xfrm>
            <a:off x="576072"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0"/>
          <p:cNvSpPr/>
          <p:nvPr/>
        </p:nvSpPr>
        <p:spPr>
          <a:xfrm>
            <a:off x="923544"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0"/>
          <p:cNvSpPr/>
          <p:nvPr/>
        </p:nvSpPr>
        <p:spPr>
          <a:xfrm>
            <a:off x="1271016"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0"/>
          <p:cNvSpPr/>
          <p:nvPr/>
        </p:nvSpPr>
        <p:spPr>
          <a:xfrm>
            <a:off x="1618488"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0"/>
          <p:cNvSpPr/>
          <p:nvPr/>
        </p:nvSpPr>
        <p:spPr>
          <a:xfrm>
            <a:off x="228600"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0"/>
          <p:cNvSpPr/>
          <p:nvPr/>
        </p:nvSpPr>
        <p:spPr>
          <a:xfrm>
            <a:off x="576072"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0"/>
          <p:cNvSpPr/>
          <p:nvPr/>
        </p:nvSpPr>
        <p:spPr>
          <a:xfrm>
            <a:off x="923544"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0"/>
          <p:cNvSpPr/>
          <p:nvPr/>
        </p:nvSpPr>
        <p:spPr>
          <a:xfrm>
            <a:off x="1271016"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0"/>
          <p:cNvSpPr/>
          <p:nvPr/>
        </p:nvSpPr>
        <p:spPr>
          <a:xfrm>
            <a:off x="1618488"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0"/>
          <p:cNvSpPr/>
          <p:nvPr/>
        </p:nvSpPr>
        <p:spPr>
          <a:xfrm>
            <a:off x="228600"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0"/>
          <p:cNvSpPr/>
          <p:nvPr/>
        </p:nvSpPr>
        <p:spPr>
          <a:xfrm>
            <a:off x="576072"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0"/>
          <p:cNvSpPr/>
          <p:nvPr/>
        </p:nvSpPr>
        <p:spPr>
          <a:xfrm>
            <a:off x="923544"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0"/>
          <p:cNvSpPr/>
          <p:nvPr/>
        </p:nvSpPr>
        <p:spPr>
          <a:xfrm>
            <a:off x="1271016"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0"/>
          <p:cNvSpPr/>
          <p:nvPr/>
        </p:nvSpPr>
        <p:spPr>
          <a:xfrm>
            <a:off x="1618488"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0"/>
          <p:cNvSpPr/>
          <p:nvPr/>
        </p:nvSpPr>
        <p:spPr>
          <a:xfrm>
            <a:off x="228600"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0"/>
          <p:cNvSpPr/>
          <p:nvPr/>
        </p:nvSpPr>
        <p:spPr>
          <a:xfrm>
            <a:off x="576072"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0"/>
          <p:cNvSpPr/>
          <p:nvPr/>
        </p:nvSpPr>
        <p:spPr>
          <a:xfrm>
            <a:off x="923544"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0"/>
          <p:cNvSpPr/>
          <p:nvPr/>
        </p:nvSpPr>
        <p:spPr>
          <a:xfrm>
            <a:off x="1271016"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0"/>
          <p:cNvSpPr/>
          <p:nvPr/>
        </p:nvSpPr>
        <p:spPr>
          <a:xfrm>
            <a:off x="1618488"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0"/>
          <p:cNvSpPr/>
          <p:nvPr/>
        </p:nvSpPr>
        <p:spPr>
          <a:xfrm>
            <a:off x="0" y="0"/>
            <a:ext cx="9144000" cy="7773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0"/>
          <p:cNvSpPr/>
          <p:nvPr/>
        </p:nvSpPr>
        <p:spPr>
          <a:xfrm>
            <a:off x="0" y="0"/>
            <a:ext cx="164700" cy="7773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0"/>
          <p:cNvSpPr/>
          <p:nvPr/>
        </p:nvSpPr>
        <p:spPr>
          <a:xfrm>
            <a:off x="384048" y="0"/>
            <a:ext cx="7772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lang="pl" sz="2200">
                <a:solidFill>
                  <a:schemeClr val="lt1"/>
                </a:solidFill>
                <a:latin typeface="Calibri"/>
                <a:ea typeface="Calibri"/>
                <a:cs typeface="Calibri"/>
                <a:sym typeface="Calibri"/>
              </a:rPr>
              <a:t>PORÓWNANIE Z </a:t>
            </a:r>
            <a:r>
              <a:rPr lang="pl" sz="2200">
                <a:solidFill>
                  <a:schemeClr val="lt1"/>
                </a:solidFill>
                <a:latin typeface="Calibri"/>
                <a:ea typeface="Calibri"/>
                <a:cs typeface="Calibri"/>
                <a:sym typeface="Calibri"/>
              </a:rPr>
              <a:t>DOKŁADNĄ OBJĘTOŚCIĄ </a:t>
            </a:r>
            <a:r>
              <a:rPr lang="pl" sz="2700">
                <a:solidFill>
                  <a:schemeClr val="lt1"/>
                </a:solidFill>
                <a:latin typeface="Calibri"/>
                <a:ea typeface="Calibri"/>
                <a:cs typeface="Calibri"/>
                <a:sym typeface="Calibri"/>
              </a:rPr>
              <a:t>Vₖ </a:t>
            </a:r>
            <a:r>
              <a:rPr lang="pl" sz="2200">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p:txBody>
      </p:sp>
      <p:sp>
        <p:nvSpPr>
          <p:cNvPr id="379" name="Google Shape;379;p20"/>
          <p:cNvSpPr/>
          <p:nvPr/>
        </p:nvSpPr>
        <p:spPr>
          <a:xfrm>
            <a:off x="8321040" y="0"/>
            <a:ext cx="731400" cy="777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C2A8"/>
              </a:buClr>
              <a:buSzPts val="1800"/>
              <a:buFont typeface="Calibri"/>
              <a:buNone/>
            </a:pPr>
            <a:r>
              <a:rPr b="1" i="0" lang="pl" sz="1800" u="none" cap="none" strike="noStrike">
                <a:solidFill>
                  <a:srgbClr val="00C2A8"/>
                </a:solidFill>
                <a:latin typeface="Calibri"/>
                <a:ea typeface="Calibri"/>
                <a:cs typeface="Calibri"/>
                <a:sym typeface="Calibri"/>
              </a:rPr>
              <a:t>0</a:t>
            </a:r>
            <a:r>
              <a:rPr b="1" lang="pl" sz="1800">
                <a:solidFill>
                  <a:srgbClr val="00C2A8"/>
                </a:solidFill>
                <a:latin typeface="Calibri"/>
                <a:ea typeface="Calibri"/>
                <a:cs typeface="Calibri"/>
                <a:sym typeface="Calibri"/>
              </a:rPr>
              <a:t>5</a:t>
            </a:r>
            <a:endParaRPr b="0" i="0" sz="1800" u="none" cap="none" strike="noStrike">
              <a:solidFill>
                <a:schemeClr val="dk1"/>
              </a:solidFill>
              <a:latin typeface="Calibri"/>
              <a:ea typeface="Calibri"/>
              <a:cs typeface="Calibri"/>
              <a:sym typeface="Calibri"/>
            </a:endParaRPr>
          </a:p>
        </p:txBody>
      </p:sp>
      <p:sp>
        <p:nvSpPr>
          <p:cNvPr id="380" name="Google Shape;380;p20"/>
          <p:cNvSpPr/>
          <p:nvPr/>
        </p:nvSpPr>
        <p:spPr>
          <a:xfrm>
            <a:off x="365750" y="960125"/>
            <a:ext cx="8348700" cy="777300"/>
          </a:xfrm>
          <a:prstGeom prst="rect">
            <a:avLst/>
          </a:prstGeom>
          <a:solidFill>
            <a:srgbClr val="152035">
              <a:alpha val="80000"/>
            </a:srgbClr>
          </a:solidFill>
          <a:ln cap="flat" cmpd="sng" w="12700">
            <a:solidFill>
              <a:srgbClr val="00C2A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0"/>
          <p:cNvSpPr/>
          <p:nvPr/>
        </p:nvSpPr>
        <p:spPr>
          <a:xfrm>
            <a:off x="365750" y="960124"/>
            <a:ext cx="63900" cy="7773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0"/>
          <p:cNvSpPr/>
          <p:nvPr/>
        </p:nvSpPr>
        <p:spPr>
          <a:xfrm>
            <a:off x="0" y="4754880"/>
            <a:ext cx="9144000" cy="3885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0"/>
          <p:cNvSpPr txBox="1"/>
          <p:nvPr/>
        </p:nvSpPr>
        <p:spPr>
          <a:xfrm>
            <a:off x="429650" y="960125"/>
            <a:ext cx="8348700" cy="77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l">
                <a:solidFill>
                  <a:schemeClr val="lt1"/>
                </a:solidFill>
              </a:rPr>
              <a:t>Przedstawione porównanie polega na obliczeniu błędu bezwzględnego między wartością oszacowaną metodą Monte Carlo, a wartością dokładną.</a:t>
            </a:r>
            <a:endParaRPr>
              <a:solidFill>
                <a:schemeClr val="lt1"/>
              </a:solidFill>
            </a:endParaRPr>
          </a:p>
          <a:p>
            <a:pPr indent="0" lvl="0" marL="0" rtl="0" algn="ctr">
              <a:spcBef>
                <a:spcPts val="0"/>
              </a:spcBef>
              <a:spcAft>
                <a:spcPts val="0"/>
              </a:spcAft>
              <a:buNone/>
            </a:pPr>
            <a:r>
              <a:rPr lang="pl">
                <a:solidFill>
                  <a:schemeClr val="lt1"/>
                </a:solidFill>
              </a:rPr>
              <a:t>(im mniejszy procent tym dokładniejszy wynik, 0% oznacza dokładną objętość)</a:t>
            </a:r>
            <a:endParaRPr>
              <a:solidFill>
                <a:schemeClr val="lt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84" name="Google Shape;384;p20"/>
          <p:cNvSpPr/>
          <p:nvPr/>
        </p:nvSpPr>
        <p:spPr>
          <a:xfrm>
            <a:off x="365750" y="1920250"/>
            <a:ext cx="4095900" cy="798900"/>
          </a:xfrm>
          <a:prstGeom prst="rect">
            <a:avLst/>
          </a:prstGeom>
          <a:solidFill>
            <a:srgbClr val="152035">
              <a:alpha val="80000"/>
            </a:srgbClr>
          </a:solidFill>
          <a:ln cap="flat" cmpd="sng" w="12700">
            <a:solidFill>
              <a:srgbClr val="00C2A8">
                <a:alpha val="40000"/>
              </a:srgbClr>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pl">
                <a:solidFill>
                  <a:schemeClr val="lt1"/>
                </a:solidFill>
              </a:rPr>
              <a:t>Porównanie dla 1000 prób :</a:t>
            </a:r>
            <a:endParaRPr>
              <a:solidFill>
                <a:schemeClr val="lt1"/>
              </a:solidFill>
            </a:endParaRPr>
          </a:p>
          <a:p>
            <a:pPr indent="0" lvl="0" marL="0" rtl="0" algn="ctr">
              <a:spcBef>
                <a:spcPts val="0"/>
              </a:spcBef>
              <a:spcAft>
                <a:spcPts val="0"/>
              </a:spcAft>
              <a:buNone/>
            </a:pPr>
            <a:r>
              <a:rPr lang="pl">
                <a:solidFill>
                  <a:schemeClr val="lt1"/>
                </a:solidFill>
              </a:rPr>
              <a:t>Błąd bezwzględny : </a:t>
            </a:r>
            <a:r>
              <a:rPr lang="pl" sz="1150">
                <a:solidFill>
                  <a:schemeClr val="lt1"/>
                </a:solidFill>
              </a:rPr>
              <a:t>0.502164</a:t>
            </a:r>
            <a:endParaRPr sz="1150">
              <a:solidFill>
                <a:schemeClr val="lt1"/>
              </a:solidFill>
            </a:endParaRPr>
          </a:p>
          <a:p>
            <a:pPr indent="0" lvl="0" marL="0" rtl="0" algn="ctr">
              <a:spcBef>
                <a:spcPts val="0"/>
              </a:spcBef>
              <a:spcAft>
                <a:spcPts val="0"/>
              </a:spcAft>
              <a:buNone/>
            </a:pPr>
            <a:r>
              <a:rPr lang="pl" sz="1150">
                <a:solidFill>
                  <a:schemeClr val="lt1"/>
                </a:solidFill>
              </a:rPr>
              <a:t>Procentowo : 19,69%</a:t>
            </a:r>
            <a:endParaRPr sz="1150">
              <a:solidFill>
                <a:schemeClr val="lt1"/>
              </a:solidFill>
            </a:endParaRPr>
          </a:p>
        </p:txBody>
      </p:sp>
      <p:sp>
        <p:nvSpPr>
          <p:cNvPr id="385" name="Google Shape;385;p20"/>
          <p:cNvSpPr/>
          <p:nvPr/>
        </p:nvSpPr>
        <p:spPr>
          <a:xfrm>
            <a:off x="4627200" y="1920250"/>
            <a:ext cx="4095900" cy="798900"/>
          </a:xfrm>
          <a:prstGeom prst="rect">
            <a:avLst/>
          </a:prstGeom>
          <a:solidFill>
            <a:srgbClr val="152035">
              <a:alpha val="80000"/>
            </a:srgbClr>
          </a:solidFill>
          <a:ln cap="flat" cmpd="sng" w="12700">
            <a:solidFill>
              <a:srgbClr val="00C2A8">
                <a:alpha val="40000"/>
              </a:srgbClr>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pl">
                <a:solidFill>
                  <a:schemeClr val="lt1"/>
                </a:solidFill>
              </a:rPr>
              <a:t>Porównanie dla 10000 prób :</a:t>
            </a:r>
            <a:endParaRPr>
              <a:solidFill>
                <a:schemeClr val="lt1"/>
              </a:solidFill>
            </a:endParaRPr>
          </a:p>
          <a:p>
            <a:pPr indent="0" lvl="0" marL="0" rtl="0" algn="ctr">
              <a:spcBef>
                <a:spcPts val="0"/>
              </a:spcBef>
              <a:spcAft>
                <a:spcPts val="0"/>
              </a:spcAft>
              <a:buNone/>
            </a:pPr>
            <a:r>
              <a:rPr lang="pl">
                <a:solidFill>
                  <a:schemeClr val="lt1"/>
                </a:solidFill>
              </a:rPr>
              <a:t>Błąd bezwzględny : </a:t>
            </a:r>
            <a:r>
              <a:rPr lang="pl" sz="1150">
                <a:solidFill>
                  <a:schemeClr val="lt1"/>
                </a:solidFill>
              </a:rPr>
              <a:t>0.297364</a:t>
            </a:r>
            <a:endParaRPr sz="1150">
              <a:solidFill>
                <a:schemeClr val="lt1"/>
              </a:solidFill>
            </a:endParaRPr>
          </a:p>
          <a:p>
            <a:pPr indent="0" lvl="0" marL="0" rtl="0" algn="ctr">
              <a:spcBef>
                <a:spcPts val="0"/>
              </a:spcBef>
              <a:spcAft>
                <a:spcPts val="0"/>
              </a:spcAft>
              <a:buNone/>
            </a:pPr>
            <a:r>
              <a:rPr lang="pl" sz="1150">
                <a:solidFill>
                  <a:schemeClr val="lt1"/>
                </a:solidFill>
              </a:rPr>
              <a:t>Procentowo : 11,66%</a:t>
            </a:r>
            <a:endParaRPr sz="1150">
              <a:solidFill>
                <a:schemeClr val="lt1"/>
              </a:solidFill>
            </a:endParaRPr>
          </a:p>
        </p:txBody>
      </p:sp>
      <p:sp>
        <p:nvSpPr>
          <p:cNvPr id="386" name="Google Shape;386;p20"/>
          <p:cNvSpPr/>
          <p:nvPr/>
        </p:nvSpPr>
        <p:spPr>
          <a:xfrm>
            <a:off x="365750" y="1920250"/>
            <a:ext cx="63900" cy="7989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0"/>
          <p:cNvSpPr/>
          <p:nvPr/>
        </p:nvSpPr>
        <p:spPr>
          <a:xfrm>
            <a:off x="4627200" y="1920250"/>
            <a:ext cx="63900" cy="7989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0"/>
          <p:cNvSpPr/>
          <p:nvPr/>
        </p:nvSpPr>
        <p:spPr>
          <a:xfrm>
            <a:off x="365750" y="2809900"/>
            <a:ext cx="4095900" cy="1919700"/>
          </a:xfrm>
          <a:prstGeom prst="rect">
            <a:avLst/>
          </a:prstGeom>
          <a:solidFill>
            <a:srgbClr val="1A2E4A">
              <a:alpha val="80000"/>
            </a:srgbClr>
          </a:solidFill>
          <a:ln cap="flat" cmpd="sng" w="12700">
            <a:solidFill>
              <a:srgbClr val="7B5EA7">
                <a:alpha val="451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0"/>
          <p:cNvSpPr txBox="1"/>
          <p:nvPr/>
        </p:nvSpPr>
        <p:spPr>
          <a:xfrm>
            <a:off x="390200" y="2815050"/>
            <a:ext cx="4095900" cy="65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pl" sz="1700">
                <a:solidFill>
                  <a:srgbClr val="7B5EA7"/>
                </a:solidFill>
              </a:rPr>
              <a:t>SciNotes :</a:t>
            </a:r>
            <a:endParaRPr i="1" sz="1700">
              <a:solidFill>
                <a:srgbClr val="7B5EA7"/>
              </a:solidFill>
              <a:highlight>
                <a:schemeClr val="lt1"/>
              </a:highlight>
            </a:endParaRPr>
          </a:p>
        </p:txBody>
      </p:sp>
      <p:sp>
        <p:nvSpPr>
          <p:cNvPr id="390" name="Google Shape;390;p20"/>
          <p:cNvSpPr/>
          <p:nvPr/>
        </p:nvSpPr>
        <p:spPr>
          <a:xfrm>
            <a:off x="4686650" y="2809900"/>
            <a:ext cx="4036500" cy="1919700"/>
          </a:xfrm>
          <a:prstGeom prst="rect">
            <a:avLst/>
          </a:prstGeom>
          <a:solidFill>
            <a:srgbClr val="E67F43">
              <a:alpha val="13500"/>
            </a:srgbClr>
          </a:solidFill>
          <a:ln cap="flat" cmpd="sng" w="12700">
            <a:solidFill>
              <a:srgbClr val="E67F43">
                <a:alpha val="451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0"/>
          <p:cNvSpPr txBox="1"/>
          <p:nvPr/>
        </p:nvSpPr>
        <p:spPr>
          <a:xfrm>
            <a:off x="4691100" y="2815050"/>
            <a:ext cx="4101900" cy="65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pl" sz="1700">
                <a:solidFill>
                  <a:srgbClr val="7B5EA7"/>
                </a:solidFill>
              </a:rPr>
              <a:t>Scilab Console</a:t>
            </a:r>
            <a:endParaRPr sz="1700">
              <a:solidFill>
                <a:srgbClr val="7B5EA7"/>
              </a:solidFill>
              <a:highlight>
                <a:schemeClr val="lt1"/>
              </a:highlight>
            </a:endParaRPr>
          </a:p>
        </p:txBody>
      </p:sp>
      <p:sp>
        <p:nvSpPr>
          <p:cNvPr id="392" name="Google Shape;392;p20"/>
          <p:cNvSpPr/>
          <p:nvPr/>
        </p:nvSpPr>
        <p:spPr>
          <a:xfrm>
            <a:off x="365750" y="2809900"/>
            <a:ext cx="63900" cy="1914600"/>
          </a:xfrm>
          <a:prstGeom prst="rect">
            <a:avLst/>
          </a:prstGeom>
          <a:solidFill>
            <a:srgbClr val="7B5EA7">
              <a:alpha val="70200"/>
            </a:srgbClr>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0"/>
          <p:cNvSpPr/>
          <p:nvPr/>
        </p:nvSpPr>
        <p:spPr>
          <a:xfrm>
            <a:off x="494825" y="3185075"/>
            <a:ext cx="3869400" cy="1423500"/>
          </a:xfrm>
          <a:prstGeom prst="rect">
            <a:avLst/>
          </a:prstGeom>
          <a:solidFill>
            <a:srgbClr val="152035">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pl" sz="1200">
                <a:solidFill>
                  <a:schemeClr val="lt1"/>
                </a:solidFill>
              </a:rPr>
              <a:t>disp("Wartość dokładna V = " + string(V_dokladne));</a:t>
            </a:r>
            <a:endParaRPr sz="1200">
              <a:solidFill>
                <a:schemeClr val="lt1"/>
              </a:solidFill>
            </a:endParaRPr>
          </a:p>
          <a:p>
            <a:pPr indent="0" lvl="0" marL="0" rtl="0" algn="l">
              <a:spcBef>
                <a:spcPts val="0"/>
              </a:spcBef>
              <a:spcAft>
                <a:spcPts val="0"/>
              </a:spcAft>
              <a:buNone/>
            </a:pPr>
            <a:r>
              <a:rPr lang="pl" sz="1200">
                <a:solidFill>
                  <a:schemeClr val="lt1"/>
                </a:solidFill>
              </a:rPr>
              <a:t>disp("Błąd dla 1000  prób: " + string(blad_1000) </a:t>
            </a:r>
            <a:endParaRPr sz="1200">
              <a:solidFill>
                <a:schemeClr val="lt1"/>
              </a:solidFill>
            </a:endParaRPr>
          </a:p>
          <a:p>
            <a:pPr indent="0" lvl="0" marL="0" rtl="0" algn="l">
              <a:spcBef>
                <a:spcPts val="0"/>
              </a:spcBef>
              <a:spcAft>
                <a:spcPts val="0"/>
              </a:spcAft>
              <a:buNone/>
            </a:pPr>
            <a:r>
              <a:rPr lang="pl" sz="1200">
                <a:solidFill>
                  <a:schemeClr val="lt1"/>
                </a:solidFill>
              </a:rPr>
              <a:t> + " (" + string(blad_1000/V_dokladne*100) + "%)");</a:t>
            </a:r>
            <a:endParaRPr sz="1200">
              <a:solidFill>
                <a:schemeClr val="lt1"/>
              </a:solidFill>
            </a:endParaRPr>
          </a:p>
          <a:p>
            <a:pPr indent="0" lvl="0" marL="0" rtl="0" algn="l">
              <a:spcBef>
                <a:spcPts val="0"/>
              </a:spcBef>
              <a:spcAft>
                <a:spcPts val="0"/>
              </a:spcAft>
              <a:buNone/>
            </a:pPr>
            <a:r>
              <a:rPr lang="pl" sz="1200">
                <a:solidFill>
                  <a:schemeClr val="lt1"/>
                </a:solidFill>
              </a:rPr>
              <a:t>disp("Błąd dla 10000 prób: " + string(blad_10000)</a:t>
            </a:r>
            <a:endParaRPr sz="1200">
              <a:solidFill>
                <a:schemeClr val="lt1"/>
              </a:solidFill>
            </a:endParaRPr>
          </a:p>
          <a:p>
            <a:pPr indent="0" lvl="0" marL="0" rtl="0" algn="l">
              <a:spcBef>
                <a:spcPts val="0"/>
              </a:spcBef>
              <a:spcAft>
                <a:spcPts val="0"/>
              </a:spcAft>
              <a:buClr>
                <a:schemeClr val="dk1"/>
              </a:buClr>
              <a:buSzPts val="1100"/>
              <a:buFont typeface="Arial"/>
              <a:buNone/>
            </a:pPr>
            <a:r>
              <a:rPr lang="pl" sz="1200">
                <a:solidFill>
                  <a:schemeClr val="lt1"/>
                </a:solidFill>
              </a:rPr>
              <a:t> + " (" + string(blad_10000/V_dokladne*100) + "%)");</a:t>
            </a:r>
            <a:endParaRPr sz="1200">
              <a:solidFill>
                <a:schemeClr val="lt1"/>
              </a:solidFill>
            </a:endParaRPr>
          </a:p>
          <a:p>
            <a:pPr indent="0" lvl="0" marL="0" rtl="0" algn="l">
              <a:spcBef>
                <a:spcPts val="0"/>
              </a:spcBef>
              <a:spcAft>
                <a:spcPts val="0"/>
              </a:spcAft>
              <a:buNone/>
            </a:pPr>
            <a:r>
              <a:t/>
            </a:r>
            <a:endParaRPr sz="1100"/>
          </a:p>
        </p:txBody>
      </p:sp>
      <p:sp>
        <p:nvSpPr>
          <p:cNvPr id="394" name="Google Shape;394;p20"/>
          <p:cNvSpPr/>
          <p:nvPr/>
        </p:nvSpPr>
        <p:spPr>
          <a:xfrm>
            <a:off x="4726275" y="3185075"/>
            <a:ext cx="3924900" cy="1423500"/>
          </a:xfrm>
          <a:prstGeom prst="rect">
            <a:avLst/>
          </a:prstGeom>
          <a:solidFill>
            <a:srgbClr val="152035">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a:solidFill>
                  <a:schemeClr val="lt1"/>
                </a:solidFill>
              </a:rPr>
              <a:t>"Wartość dokładna V = 2.550164"</a:t>
            </a:r>
            <a:endParaRPr>
              <a:solidFill>
                <a:schemeClr val="lt1"/>
              </a:solidFill>
            </a:endParaRPr>
          </a:p>
          <a:p>
            <a:pPr indent="0" lvl="0" marL="0" rtl="0" algn="l">
              <a:spcBef>
                <a:spcPts val="0"/>
              </a:spcBef>
              <a:spcAft>
                <a:spcPts val="0"/>
              </a:spcAft>
              <a:buClr>
                <a:schemeClr val="dk1"/>
              </a:buClr>
              <a:buSzPts val="1100"/>
              <a:buFont typeface="Arial"/>
              <a:buNone/>
            </a:pPr>
            <a:r>
              <a:rPr lang="pl">
                <a:solidFill>
                  <a:schemeClr val="lt1"/>
                </a:solidFill>
              </a:rPr>
              <a:t>"Błąd dla 1000  prób: 0.502164 (19.691439%)"</a:t>
            </a:r>
            <a:endParaRPr>
              <a:solidFill>
                <a:schemeClr val="lt1"/>
              </a:solidFill>
            </a:endParaRPr>
          </a:p>
          <a:p>
            <a:pPr indent="0" lvl="0" marL="0" rtl="0" algn="l">
              <a:spcBef>
                <a:spcPts val="0"/>
              </a:spcBef>
              <a:spcAft>
                <a:spcPts val="0"/>
              </a:spcAft>
              <a:buClr>
                <a:schemeClr val="dk1"/>
              </a:buClr>
              <a:buSzPts val="1100"/>
              <a:buFont typeface="Arial"/>
              <a:buNone/>
            </a:pPr>
            <a:r>
              <a:rPr lang="pl">
                <a:solidFill>
                  <a:schemeClr val="lt1"/>
                </a:solidFill>
              </a:rPr>
              <a:t>"Błąd dla 10000 prób: </a:t>
            </a:r>
            <a:r>
              <a:rPr lang="pl" sz="1150">
                <a:solidFill>
                  <a:schemeClr val="lt1"/>
                </a:solidFill>
              </a:rPr>
              <a:t>0.297364</a:t>
            </a:r>
            <a:r>
              <a:rPr lang="pl">
                <a:solidFill>
                  <a:schemeClr val="lt1"/>
                </a:solidFill>
              </a:rPr>
              <a:t> (11.664504%)"</a:t>
            </a:r>
            <a:endParaRPr>
              <a:solidFill>
                <a:schemeClr val="lt1"/>
              </a:solidFill>
            </a:endParaRPr>
          </a:p>
          <a:p>
            <a:pPr indent="0" lvl="0" marL="0" rtl="0" algn="l">
              <a:spcBef>
                <a:spcPts val="0"/>
              </a:spcBef>
              <a:spcAft>
                <a:spcPts val="0"/>
              </a:spcAft>
              <a:buNone/>
            </a:pPr>
            <a:r>
              <a:t/>
            </a:r>
            <a:endParaRPr/>
          </a:p>
        </p:txBody>
      </p:sp>
      <p:sp>
        <p:nvSpPr>
          <p:cNvPr id="395" name="Google Shape;395;p20"/>
          <p:cNvSpPr/>
          <p:nvPr/>
        </p:nvSpPr>
        <p:spPr>
          <a:xfrm>
            <a:off x="4627200" y="2809900"/>
            <a:ext cx="63900" cy="1919700"/>
          </a:xfrm>
          <a:prstGeom prst="rect">
            <a:avLst/>
          </a:prstGeom>
          <a:solidFill>
            <a:srgbClr val="E67F43"/>
          </a:solidFill>
          <a:ln cap="flat" cmpd="sng" w="12700">
            <a:solidFill>
              <a:srgbClr val="E5996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0"/>
          <p:cNvSpPr/>
          <p:nvPr/>
        </p:nvSpPr>
        <p:spPr>
          <a:xfrm>
            <a:off x="4572000" y="4754880"/>
            <a:ext cx="4206300" cy="384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6AD"/>
              </a:buClr>
              <a:buSzPts val="1000"/>
              <a:buFont typeface="Calibri"/>
              <a:buNone/>
            </a:pPr>
            <a:r>
              <a:rPr b="0" i="0" lang="pl" sz="1000" u="none" cap="none" strike="noStrike">
                <a:solidFill>
                  <a:srgbClr val="8A96AD"/>
                </a:solidFill>
                <a:latin typeface="Calibri"/>
                <a:ea typeface="Calibri"/>
                <a:cs typeface="Calibri"/>
                <a:sym typeface="Calibri"/>
              </a:rPr>
              <a:t>[ </a:t>
            </a:r>
            <a:r>
              <a:rPr lang="pl" sz="1000">
                <a:solidFill>
                  <a:srgbClr val="8A96AD"/>
                </a:solidFill>
                <a:latin typeface="Calibri"/>
                <a:ea typeface="Calibri"/>
                <a:cs typeface="Calibri"/>
                <a:sym typeface="Calibri"/>
              </a:rPr>
              <a:t>16.05.2026</a:t>
            </a:r>
            <a:r>
              <a:rPr b="0" i="0" lang="pl" sz="1000" u="none" cap="none" strike="noStrike">
                <a:solidFill>
                  <a:srgbClr val="8A96AD"/>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397" name="Google Shape;397;p20"/>
          <p:cNvSpPr/>
          <p:nvPr/>
        </p:nvSpPr>
        <p:spPr>
          <a:xfrm>
            <a:off x="365760" y="4754880"/>
            <a:ext cx="457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000"/>
              <a:buFont typeface="Calibri"/>
              <a:buNone/>
            </a:pPr>
            <a:r>
              <a:rPr lang="pl" sz="1000">
                <a:solidFill>
                  <a:srgbClr val="8A96AD"/>
                </a:solidFill>
                <a:latin typeface="Calibri"/>
                <a:ea typeface="Calibri"/>
                <a:cs typeface="Calibri"/>
                <a:sym typeface="Calibri"/>
              </a:rPr>
              <a:t>Objętość kuli k-wymiarowej 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30"/>
        </a:solidFill>
      </p:bgPr>
    </p:bg>
    <p:spTree>
      <p:nvGrpSpPr>
        <p:cNvPr id="402" name="Shape 402"/>
        <p:cNvGrpSpPr/>
        <p:nvPr/>
      </p:nvGrpSpPr>
      <p:grpSpPr>
        <a:xfrm>
          <a:off x="0" y="0"/>
          <a:ext cx="0" cy="0"/>
          <a:chOff x="0" y="0"/>
          <a:chExt cx="0" cy="0"/>
        </a:xfrm>
      </p:grpSpPr>
      <p:sp>
        <p:nvSpPr>
          <p:cNvPr id="403" name="Google Shape;403;p21"/>
          <p:cNvSpPr/>
          <p:nvPr/>
        </p:nvSpPr>
        <p:spPr>
          <a:xfrm>
            <a:off x="7406640" y="-1554480"/>
            <a:ext cx="2560200" cy="2560200"/>
          </a:xfrm>
          <a:prstGeom prst="ellipse">
            <a:avLst/>
          </a:prstGeom>
          <a:solidFill>
            <a:srgbClr val="00C2A8">
              <a:alpha val="20000"/>
            </a:srgbClr>
          </a:solidFill>
          <a:ln cap="flat" cmpd="sng" w="19050">
            <a:solidFill>
              <a:srgbClr val="00C2A8">
                <a:alpha val="1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1"/>
          <p:cNvSpPr/>
          <p:nvPr/>
        </p:nvSpPr>
        <p:spPr>
          <a:xfrm>
            <a:off x="7680960" y="731520"/>
            <a:ext cx="1280100" cy="1280100"/>
          </a:xfrm>
          <a:prstGeom prst="ellipse">
            <a:avLst/>
          </a:prstGeom>
          <a:solidFill>
            <a:srgbClr val="7B5EA7">
              <a:alpha val="25099"/>
            </a:srgbClr>
          </a:solidFill>
          <a:ln cap="flat" cmpd="sng" w="19050">
            <a:solidFill>
              <a:srgbClr val="7B5EA7">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1"/>
          <p:cNvSpPr/>
          <p:nvPr/>
        </p:nvSpPr>
        <p:spPr>
          <a:xfrm>
            <a:off x="228600"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1"/>
          <p:cNvSpPr/>
          <p:nvPr/>
        </p:nvSpPr>
        <p:spPr>
          <a:xfrm>
            <a:off x="576072"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1"/>
          <p:cNvSpPr/>
          <p:nvPr/>
        </p:nvSpPr>
        <p:spPr>
          <a:xfrm>
            <a:off x="923544"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1"/>
          <p:cNvSpPr/>
          <p:nvPr/>
        </p:nvSpPr>
        <p:spPr>
          <a:xfrm>
            <a:off x="1271016"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1"/>
          <p:cNvSpPr/>
          <p:nvPr/>
        </p:nvSpPr>
        <p:spPr>
          <a:xfrm>
            <a:off x="1618488"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1"/>
          <p:cNvSpPr/>
          <p:nvPr/>
        </p:nvSpPr>
        <p:spPr>
          <a:xfrm>
            <a:off x="228600"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1"/>
          <p:cNvSpPr/>
          <p:nvPr/>
        </p:nvSpPr>
        <p:spPr>
          <a:xfrm>
            <a:off x="576072"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1"/>
          <p:cNvSpPr/>
          <p:nvPr/>
        </p:nvSpPr>
        <p:spPr>
          <a:xfrm>
            <a:off x="923544"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1"/>
          <p:cNvSpPr/>
          <p:nvPr/>
        </p:nvSpPr>
        <p:spPr>
          <a:xfrm>
            <a:off x="1271016"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1"/>
          <p:cNvSpPr/>
          <p:nvPr/>
        </p:nvSpPr>
        <p:spPr>
          <a:xfrm>
            <a:off x="1618488"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1"/>
          <p:cNvSpPr/>
          <p:nvPr/>
        </p:nvSpPr>
        <p:spPr>
          <a:xfrm>
            <a:off x="228600"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1"/>
          <p:cNvSpPr/>
          <p:nvPr/>
        </p:nvSpPr>
        <p:spPr>
          <a:xfrm>
            <a:off x="576072"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1"/>
          <p:cNvSpPr/>
          <p:nvPr/>
        </p:nvSpPr>
        <p:spPr>
          <a:xfrm>
            <a:off x="923544"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1"/>
          <p:cNvSpPr/>
          <p:nvPr/>
        </p:nvSpPr>
        <p:spPr>
          <a:xfrm>
            <a:off x="1271016"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1"/>
          <p:cNvSpPr/>
          <p:nvPr/>
        </p:nvSpPr>
        <p:spPr>
          <a:xfrm>
            <a:off x="1618488"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1"/>
          <p:cNvSpPr/>
          <p:nvPr/>
        </p:nvSpPr>
        <p:spPr>
          <a:xfrm>
            <a:off x="228600"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1"/>
          <p:cNvSpPr/>
          <p:nvPr/>
        </p:nvSpPr>
        <p:spPr>
          <a:xfrm>
            <a:off x="576072"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1"/>
          <p:cNvSpPr/>
          <p:nvPr/>
        </p:nvSpPr>
        <p:spPr>
          <a:xfrm>
            <a:off x="923544"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1"/>
          <p:cNvSpPr/>
          <p:nvPr/>
        </p:nvSpPr>
        <p:spPr>
          <a:xfrm>
            <a:off x="1271016"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1"/>
          <p:cNvSpPr/>
          <p:nvPr/>
        </p:nvSpPr>
        <p:spPr>
          <a:xfrm>
            <a:off x="1618488"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1"/>
          <p:cNvSpPr/>
          <p:nvPr/>
        </p:nvSpPr>
        <p:spPr>
          <a:xfrm>
            <a:off x="228600"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1"/>
          <p:cNvSpPr/>
          <p:nvPr/>
        </p:nvSpPr>
        <p:spPr>
          <a:xfrm>
            <a:off x="576072"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1"/>
          <p:cNvSpPr/>
          <p:nvPr/>
        </p:nvSpPr>
        <p:spPr>
          <a:xfrm>
            <a:off x="923544"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1"/>
          <p:cNvSpPr/>
          <p:nvPr/>
        </p:nvSpPr>
        <p:spPr>
          <a:xfrm>
            <a:off x="1271016"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1"/>
          <p:cNvSpPr/>
          <p:nvPr/>
        </p:nvSpPr>
        <p:spPr>
          <a:xfrm>
            <a:off x="1618488"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1"/>
          <p:cNvSpPr/>
          <p:nvPr/>
        </p:nvSpPr>
        <p:spPr>
          <a:xfrm>
            <a:off x="0" y="0"/>
            <a:ext cx="9144000" cy="7773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1"/>
          <p:cNvSpPr/>
          <p:nvPr/>
        </p:nvSpPr>
        <p:spPr>
          <a:xfrm>
            <a:off x="0" y="0"/>
            <a:ext cx="164700" cy="7773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1"/>
          <p:cNvSpPr/>
          <p:nvPr/>
        </p:nvSpPr>
        <p:spPr>
          <a:xfrm>
            <a:off x="384048" y="0"/>
            <a:ext cx="7772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lang="pl" sz="2200">
                <a:solidFill>
                  <a:schemeClr val="lt1"/>
                </a:solidFill>
                <a:latin typeface="Calibri"/>
                <a:ea typeface="Calibri"/>
                <a:cs typeface="Calibri"/>
                <a:sym typeface="Calibri"/>
              </a:rPr>
              <a:t>POWTÓRZENIE OSZACOWANIA DLA 1000 PRÓB 10-KROTNIE</a:t>
            </a:r>
            <a:r>
              <a:rPr lang="pl" sz="2700">
                <a:solidFill>
                  <a:schemeClr val="lt1"/>
                </a:solidFill>
                <a:latin typeface="Calibri"/>
                <a:ea typeface="Calibri"/>
                <a:cs typeface="Calibri"/>
                <a:sym typeface="Calibri"/>
              </a:rPr>
              <a:t> </a:t>
            </a:r>
            <a:r>
              <a:rPr lang="pl" sz="2200">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p:txBody>
      </p:sp>
      <p:sp>
        <p:nvSpPr>
          <p:cNvPr id="433" name="Google Shape;433;p21"/>
          <p:cNvSpPr/>
          <p:nvPr/>
        </p:nvSpPr>
        <p:spPr>
          <a:xfrm>
            <a:off x="8321040" y="0"/>
            <a:ext cx="731400" cy="777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C2A8"/>
              </a:buClr>
              <a:buSzPts val="1800"/>
              <a:buFont typeface="Calibri"/>
              <a:buNone/>
            </a:pPr>
            <a:r>
              <a:rPr b="1" i="0" lang="pl" sz="1800" u="none" cap="none" strike="noStrike">
                <a:solidFill>
                  <a:srgbClr val="00C2A8"/>
                </a:solidFill>
                <a:latin typeface="Calibri"/>
                <a:ea typeface="Calibri"/>
                <a:cs typeface="Calibri"/>
                <a:sym typeface="Calibri"/>
              </a:rPr>
              <a:t>0</a:t>
            </a:r>
            <a:r>
              <a:rPr b="1" lang="pl" sz="1800">
                <a:solidFill>
                  <a:srgbClr val="00C2A8"/>
                </a:solidFill>
                <a:latin typeface="Calibri"/>
                <a:ea typeface="Calibri"/>
                <a:cs typeface="Calibri"/>
                <a:sym typeface="Calibri"/>
              </a:rPr>
              <a:t>6</a:t>
            </a:r>
            <a:endParaRPr b="0" i="0" sz="1800" u="none" cap="none" strike="noStrike">
              <a:solidFill>
                <a:schemeClr val="dk1"/>
              </a:solidFill>
              <a:latin typeface="Calibri"/>
              <a:ea typeface="Calibri"/>
              <a:cs typeface="Calibri"/>
              <a:sym typeface="Calibri"/>
            </a:endParaRPr>
          </a:p>
        </p:txBody>
      </p:sp>
      <p:sp>
        <p:nvSpPr>
          <p:cNvPr id="434" name="Google Shape;434;p21"/>
          <p:cNvSpPr/>
          <p:nvPr/>
        </p:nvSpPr>
        <p:spPr>
          <a:xfrm>
            <a:off x="365750" y="960125"/>
            <a:ext cx="8412600" cy="637800"/>
          </a:xfrm>
          <a:prstGeom prst="rect">
            <a:avLst/>
          </a:prstGeom>
          <a:solidFill>
            <a:srgbClr val="152035">
              <a:alpha val="80000"/>
            </a:srgbClr>
          </a:solidFill>
          <a:ln cap="flat" cmpd="sng" w="12700">
            <a:solidFill>
              <a:srgbClr val="00C2A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pl">
                <a:solidFill>
                  <a:schemeClr val="lt1"/>
                </a:solidFill>
              </a:rPr>
              <a:t>Pojedyncza próba (n = 1000) jest podatna na fluktuacje stochastyczne (przypadek).</a:t>
            </a:r>
            <a:endParaRPr>
              <a:solidFill>
                <a:schemeClr val="lt1"/>
              </a:solidFill>
            </a:endParaRPr>
          </a:p>
          <a:p>
            <a:pPr indent="0" lvl="0" marL="0" rtl="0" algn="l">
              <a:spcBef>
                <a:spcPts val="0"/>
              </a:spcBef>
              <a:spcAft>
                <a:spcPts val="0"/>
              </a:spcAft>
              <a:buNone/>
            </a:pPr>
            <a:r>
              <a:rPr lang="pl">
                <a:solidFill>
                  <a:schemeClr val="lt1"/>
                </a:solidFill>
              </a:rPr>
              <a:t>Wyznaczenie średniej z 10 niezależnych powtórzeń pozwala na otrzymanie rzetelnego przybliżenia Vk.</a:t>
            </a:r>
            <a:endParaRPr>
              <a:solidFill>
                <a:schemeClr val="lt1"/>
              </a:solidFill>
            </a:endParaRPr>
          </a:p>
        </p:txBody>
      </p:sp>
      <p:sp>
        <p:nvSpPr>
          <p:cNvPr id="435" name="Google Shape;435;p21"/>
          <p:cNvSpPr/>
          <p:nvPr/>
        </p:nvSpPr>
        <p:spPr>
          <a:xfrm>
            <a:off x="365750" y="960125"/>
            <a:ext cx="63900" cy="6378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1"/>
          <p:cNvSpPr/>
          <p:nvPr/>
        </p:nvSpPr>
        <p:spPr>
          <a:xfrm>
            <a:off x="0" y="4754880"/>
            <a:ext cx="9144000" cy="3885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1"/>
          <p:cNvSpPr/>
          <p:nvPr/>
        </p:nvSpPr>
        <p:spPr>
          <a:xfrm>
            <a:off x="630975" y="2579550"/>
            <a:ext cx="4206300" cy="1193700"/>
          </a:xfrm>
          <a:prstGeom prst="rect">
            <a:avLst/>
          </a:prstGeom>
          <a:solidFill>
            <a:srgbClr val="152035">
              <a:alpha val="80000"/>
            </a:srgbClr>
          </a:solidFill>
          <a:ln cap="flat" cmpd="sng" w="12700">
            <a:solidFill>
              <a:srgbClr val="00C2A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l">
                <a:solidFill>
                  <a:schemeClr val="lt1"/>
                </a:solidFill>
              </a:rPr>
              <a:t>Średnia z 10 powtórzeń : 2.6624</a:t>
            </a:r>
            <a:endParaRPr>
              <a:solidFill>
                <a:schemeClr val="lt1"/>
              </a:solidFill>
            </a:endParaRPr>
          </a:p>
          <a:p>
            <a:pPr indent="0" lvl="0" marL="0" rtl="0" algn="ctr">
              <a:spcBef>
                <a:spcPts val="0"/>
              </a:spcBef>
              <a:spcAft>
                <a:spcPts val="0"/>
              </a:spcAft>
              <a:buNone/>
            </a:pPr>
            <a:r>
              <a:rPr lang="pl">
                <a:solidFill>
                  <a:schemeClr val="lt1"/>
                </a:solidFill>
              </a:rPr>
              <a:t>Błąd bezwzględny : 0.0112236</a:t>
            </a:r>
            <a:endParaRPr>
              <a:solidFill>
                <a:schemeClr val="lt1"/>
              </a:solidFill>
            </a:endParaRPr>
          </a:p>
          <a:p>
            <a:pPr indent="0" lvl="0" marL="0" rtl="0" algn="ctr">
              <a:spcBef>
                <a:spcPts val="0"/>
              </a:spcBef>
              <a:spcAft>
                <a:spcPts val="0"/>
              </a:spcAft>
              <a:buNone/>
            </a:pPr>
            <a:r>
              <a:rPr lang="pl">
                <a:solidFill>
                  <a:schemeClr val="lt1"/>
                </a:solidFill>
              </a:rPr>
              <a:t>Procentowo : 4.4011271 %</a:t>
            </a:r>
            <a:endParaRPr>
              <a:solidFill>
                <a:schemeClr val="lt1"/>
              </a:solidFill>
            </a:endParaRPr>
          </a:p>
        </p:txBody>
      </p:sp>
      <p:sp>
        <p:nvSpPr>
          <p:cNvPr id="438" name="Google Shape;438;p21"/>
          <p:cNvSpPr/>
          <p:nvPr/>
        </p:nvSpPr>
        <p:spPr>
          <a:xfrm>
            <a:off x="630975" y="2579538"/>
            <a:ext cx="63900" cy="11937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1"/>
          <p:cNvSpPr/>
          <p:nvPr/>
        </p:nvSpPr>
        <p:spPr>
          <a:xfrm>
            <a:off x="5576825" y="1748625"/>
            <a:ext cx="2862000" cy="2914800"/>
          </a:xfrm>
          <a:prstGeom prst="rect">
            <a:avLst/>
          </a:prstGeom>
          <a:solidFill>
            <a:srgbClr val="1A2E4A">
              <a:alpha val="80000"/>
            </a:srgbClr>
          </a:solidFill>
          <a:ln cap="flat" cmpd="sng" w="12700">
            <a:solidFill>
              <a:srgbClr val="7B5EA7">
                <a:alpha val="45100"/>
              </a:srgbClr>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pl">
                <a:solidFill>
                  <a:schemeClr val="lt1"/>
                </a:solidFill>
              </a:rPr>
              <a:t>Wyniki powtórzeń :</a:t>
            </a:r>
            <a:endParaRPr>
              <a:solidFill>
                <a:schemeClr val="lt1"/>
              </a:solidFill>
            </a:endParaRPr>
          </a:p>
          <a:p>
            <a:pPr indent="0" lvl="0" marL="0" rtl="0" algn="ctr">
              <a:spcBef>
                <a:spcPts val="0"/>
              </a:spcBef>
              <a:spcAft>
                <a:spcPts val="0"/>
              </a:spcAft>
              <a:buClr>
                <a:schemeClr val="dk1"/>
              </a:buClr>
              <a:buSzPts val="1100"/>
              <a:buFont typeface="Arial"/>
              <a:buNone/>
            </a:pPr>
            <a:r>
              <a:rPr lang="pl">
                <a:solidFill>
                  <a:schemeClr val="lt1"/>
                </a:solidFill>
              </a:rPr>
              <a:t>Powtórzenie 1: V = 2.048</a:t>
            </a:r>
            <a:endParaRPr>
              <a:solidFill>
                <a:schemeClr val="lt1"/>
              </a:solidFill>
            </a:endParaRPr>
          </a:p>
          <a:p>
            <a:pPr indent="0" lvl="0" marL="0" rtl="0" algn="ctr">
              <a:spcBef>
                <a:spcPts val="0"/>
              </a:spcBef>
              <a:spcAft>
                <a:spcPts val="0"/>
              </a:spcAft>
              <a:buClr>
                <a:schemeClr val="dk1"/>
              </a:buClr>
              <a:buSzPts val="1100"/>
              <a:buFont typeface="Arial"/>
              <a:buNone/>
            </a:pPr>
            <a:r>
              <a:rPr lang="pl">
                <a:solidFill>
                  <a:schemeClr val="lt1"/>
                </a:solidFill>
              </a:rPr>
              <a:t>Powtórzenie 2: V = 4.096</a:t>
            </a:r>
            <a:endParaRPr>
              <a:solidFill>
                <a:schemeClr val="lt1"/>
              </a:solidFill>
            </a:endParaRPr>
          </a:p>
          <a:p>
            <a:pPr indent="0" lvl="0" marL="0" rtl="0" algn="l">
              <a:spcBef>
                <a:spcPts val="0"/>
              </a:spcBef>
              <a:spcAft>
                <a:spcPts val="0"/>
              </a:spcAft>
              <a:buNone/>
            </a:pPr>
            <a:r>
              <a:rPr lang="pl">
                <a:solidFill>
                  <a:schemeClr val="lt1"/>
                </a:solidFill>
              </a:rPr>
              <a:t>       Powtórzenie 3: V = 5.12</a:t>
            </a:r>
            <a:endParaRPr>
              <a:solidFill>
                <a:schemeClr val="lt1"/>
              </a:solidFill>
            </a:endParaRPr>
          </a:p>
          <a:p>
            <a:pPr indent="0" lvl="0" marL="0" rtl="0" algn="l">
              <a:spcBef>
                <a:spcPts val="0"/>
              </a:spcBef>
              <a:spcAft>
                <a:spcPts val="0"/>
              </a:spcAft>
              <a:buClr>
                <a:schemeClr val="dk1"/>
              </a:buClr>
              <a:buSzPts val="1100"/>
              <a:buFont typeface="Arial"/>
              <a:buNone/>
            </a:pPr>
            <a:r>
              <a:rPr lang="pl">
                <a:solidFill>
                  <a:schemeClr val="lt1"/>
                </a:solidFill>
              </a:rPr>
              <a:t>       </a:t>
            </a:r>
            <a:r>
              <a:rPr lang="pl">
                <a:solidFill>
                  <a:schemeClr val="lt1"/>
                </a:solidFill>
              </a:rPr>
              <a:t>Powtórzenie 4: V = 0</a:t>
            </a:r>
            <a:endParaRPr>
              <a:solidFill>
                <a:schemeClr val="lt1"/>
              </a:solidFill>
            </a:endParaRPr>
          </a:p>
          <a:p>
            <a:pPr indent="0" lvl="0" marL="0" rtl="0" algn="ctr">
              <a:spcBef>
                <a:spcPts val="0"/>
              </a:spcBef>
              <a:spcAft>
                <a:spcPts val="0"/>
              </a:spcAft>
              <a:buClr>
                <a:schemeClr val="dk1"/>
              </a:buClr>
              <a:buSzPts val="1100"/>
              <a:buFont typeface="Arial"/>
              <a:buNone/>
            </a:pPr>
            <a:r>
              <a:rPr lang="pl">
                <a:solidFill>
                  <a:schemeClr val="lt1"/>
                </a:solidFill>
              </a:rPr>
              <a:t>Powtórzenie 5: V = 2.048</a:t>
            </a:r>
            <a:endParaRPr>
              <a:solidFill>
                <a:schemeClr val="lt1"/>
              </a:solidFill>
            </a:endParaRPr>
          </a:p>
          <a:p>
            <a:pPr indent="0" lvl="0" marL="0" rtl="0" algn="ctr">
              <a:spcBef>
                <a:spcPts val="0"/>
              </a:spcBef>
              <a:spcAft>
                <a:spcPts val="0"/>
              </a:spcAft>
              <a:buClr>
                <a:schemeClr val="dk1"/>
              </a:buClr>
              <a:buSzPts val="1100"/>
              <a:buFont typeface="Arial"/>
              <a:buNone/>
            </a:pPr>
            <a:r>
              <a:rPr lang="pl">
                <a:solidFill>
                  <a:schemeClr val="lt1"/>
                </a:solidFill>
              </a:rPr>
              <a:t>Powtórzenie 6: V = 1.024</a:t>
            </a:r>
            <a:endParaRPr>
              <a:solidFill>
                <a:schemeClr val="lt1"/>
              </a:solidFill>
            </a:endParaRPr>
          </a:p>
          <a:p>
            <a:pPr indent="0" lvl="0" marL="0" rtl="0" algn="ctr">
              <a:spcBef>
                <a:spcPts val="0"/>
              </a:spcBef>
              <a:spcAft>
                <a:spcPts val="0"/>
              </a:spcAft>
              <a:buClr>
                <a:schemeClr val="dk1"/>
              </a:buClr>
              <a:buSzPts val="1100"/>
              <a:buFont typeface="Arial"/>
              <a:buNone/>
            </a:pPr>
            <a:r>
              <a:rPr lang="pl">
                <a:solidFill>
                  <a:schemeClr val="lt1"/>
                </a:solidFill>
              </a:rPr>
              <a:t>Powtórzenie 7: V = 2.048</a:t>
            </a:r>
            <a:endParaRPr>
              <a:solidFill>
                <a:schemeClr val="lt1"/>
              </a:solidFill>
            </a:endParaRPr>
          </a:p>
          <a:p>
            <a:pPr indent="0" lvl="0" marL="0" rtl="0" algn="l">
              <a:spcBef>
                <a:spcPts val="0"/>
              </a:spcBef>
              <a:spcAft>
                <a:spcPts val="0"/>
              </a:spcAft>
              <a:buNone/>
            </a:pPr>
            <a:r>
              <a:rPr lang="pl">
                <a:solidFill>
                  <a:schemeClr val="lt1"/>
                </a:solidFill>
              </a:rPr>
              <a:t>       Powtórzenie 8: V = 5.12</a:t>
            </a:r>
            <a:endParaRPr>
              <a:solidFill>
                <a:schemeClr val="lt1"/>
              </a:solidFill>
            </a:endParaRPr>
          </a:p>
          <a:p>
            <a:pPr indent="0" lvl="0" marL="0" rtl="0" algn="ctr">
              <a:spcBef>
                <a:spcPts val="0"/>
              </a:spcBef>
              <a:spcAft>
                <a:spcPts val="0"/>
              </a:spcAft>
              <a:buClr>
                <a:schemeClr val="dk1"/>
              </a:buClr>
              <a:buSzPts val="1100"/>
              <a:buFont typeface="Arial"/>
              <a:buNone/>
            </a:pPr>
            <a:r>
              <a:rPr lang="pl">
                <a:solidFill>
                  <a:schemeClr val="lt1"/>
                </a:solidFill>
              </a:rPr>
              <a:t>Powtórzenie 9: V = 3.072</a:t>
            </a:r>
            <a:endParaRPr>
              <a:solidFill>
                <a:schemeClr val="lt1"/>
              </a:solidFill>
            </a:endParaRPr>
          </a:p>
          <a:p>
            <a:pPr indent="0" lvl="0" marL="0" rtl="0" algn="ctr">
              <a:spcBef>
                <a:spcPts val="0"/>
              </a:spcBef>
              <a:spcAft>
                <a:spcPts val="0"/>
              </a:spcAft>
              <a:buClr>
                <a:schemeClr val="dk1"/>
              </a:buClr>
              <a:buSzPts val="1100"/>
              <a:buFont typeface="Arial"/>
              <a:buNone/>
            </a:pPr>
            <a:r>
              <a:rPr lang="pl">
                <a:solidFill>
                  <a:schemeClr val="lt1"/>
                </a:solidFill>
              </a:rPr>
              <a:t>  Powtórzenie 10: V = 2.048</a:t>
            </a:r>
            <a:endParaRPr>
              <a:solidFill>
                <a:schemeClr val="lt1"/>
              </a:solidFill>
            </a:endParaRPr>
          </a:p>
          <a:p>
            <a:pPr indent="0" lvl="0" marL="0" rtl="0" algn="ctr">
              <a:spcBef>
                <a:spcPts val="0"/>
              </a:spcBef>
              <a:spcAft>
                <a:spcPts val="0"/>
              </a:spcAft>
              <a:buNone/>
            </a:pPr>
            <a:r>
              <a:t/>
            </a:r>
            <a:endParaRPr/>
          </a:p>
        </p:txBody>
      </p:sp>
      <p:sp>
        <p:nvSpPr>
          <p:cNvPr id="440" name="Google Shape;440;p21"/>
          <p:cNvSpPr/>
          <p:nvPr/>
        </p:nvSpPr>
        <p:spPr>
          <a:xfrm>
            <a:off x="5576825" y="1748600"/>
            <a:ext cx="63900" cy="2914800"/>
          </a:xfrm>
          <a:prstGeom prst="rect">
            <a:avLst/>
          </a:prstGeom>
          <a:solidFill>
            <a:srgbClr val="7B5EA7">
              <a:alpha val="70200"/>
            </a:srgbClr>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1"/>
          <p:cNvSpPr/>
          <p:nvPr/>
        </p:nvSpPr>
        <p:spPr>
          <a:xfrm>
            <a:off x="4572000" y="4754880"/>
            <a:ext cx="4206300" cy="384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6AD"/>
              </a:buClr>
              <a:buSzPts val="1000"/>
              <a:buFont typeface="Calibri"/>
              <a:buNone/>
            </a:pPr>
            <a:r>
              <a:rPr b="0" i="0" lang="pl" sz="1000" u="none" cap="none" strike="noStrike">
                <a:solidFill>
                  <a:srgbClr val="8A96AD"/>
                </a:solidFill>
                <a:latin typeface="Calibri"/>
                <a:ea typeface="Calibri"/>
                <a:cs typeface="Calibri"/>
                <a:sym typeface="Calibri"/>
              </a:rPr>
              <a:t>[ </a:t>
            </a:r>
            <a:r>
              <a:rPr lang="pl" sz="1000">
                <a:solidFill>
                  <a:srgbClr val="8A96AD"/>
                </a:solidFill>
                <a:latin typeface="Calibri"/>
                <a:ea typeface="Calibri"/>
                <a:cs typeface="Calibri"/>
                <a:sym typeface="Calibri"/>
              </a:rPr>
              <a:t>16.05.2026</a:t>
            </a:r>
            <a:r>
              <a:rPr b="0" i="0" lang="pl" sz="1000" u="none" cap="none" strike="noStrike">
                <a:solidFill>
                  <a:srgbClr val="8A96AD"/>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442" name="Google Shape;442;p21"/>
          <p:cNvSpPr/>
          <p:nvPr/>
        </p:nvSpPr>
        <p:spPr>
          <a:xfrm>
            <a:off x="365760" y="4754880"/>
            <a:ext cx="457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000"/>
              <a:buFont typeface="Calibri"/>
              <a:buNone/>
            </a:pPr>
            <a:r>
              <a:rPr lang="pl" sz="1000">
                <a:solidFill>
                  <a:srgbClr val="8A96AD"/>
                </a:solidFill>
                <a:latin typeface="Calibri"/>
                <a:ea typeface="Calibri"/>
                <a:cs typeface="Calibri"/>
                <a:sym typeface="Calibri"/>
              </a:rPr>
              <a:t>Objętość kuli k-wymiarowej 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30"/>
        </a:solidFill>
      </p:bgPr>
    </p:bg>
    <p:spTree>
      <p:nvGrpSpPr>
        <p:cNvPr id="447" name="Shape 447"/>
        <p:cNvGrpSpPr/>
        <p:nvPr/>
      </p:nvGrpSpPr>
      <p:grpSpPr>
        <a:xfrm>
          <a:off x="0" y="0"/>
          <a:ext cx="0" cy="0"/>
          <a:chOff x="0" y="0"/>
          <a:chExt cx="0" cy="0"/>
        </a:xfrm>
      </p:grpSpPr>
      <p:sp>
        <p:nvSpPr>
          <p:cNvPr id="448" name="Google Shape;448;p22"/>
          <p:cNvSpPr/>
          <p:nvPr/>
        </p:nvSpPr>
        <p:spPr>
          <a:xfrm>
            <a:off x="7406640" y="-1554480"/>
            <a:ext cx="2560200" cy="2560200"/>
          </a:xfrm>
          <a:prstGeom prst="ellipse">
            <a:avLst/>
          </a:prstGeom>
          <a:solidFill>
            <a:srgbClr val="00C2A8">
              <a:alpha val="20000"/>
            </a:srgbClr>
          </a:solidFill>
          <a:ln cap="flat" cmpd="sng" w="19050">
            <a:solidFill>
              <a:srgbClr val="00C2A8">
                <a:alpha val="1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2"/>
          <p:cNvSpPr/>
          <p:nvPr/>
        </p:nvSpPr>
        <p:spPr>
          <a:xfrm>
            <a:off x="7680960" y="731520"/>
            <a:ext cx="1280100" cy="1280100"/>
          </a:xfrm>
          <a:prstGeom prst="ellipse">
            <a:avLst/>
          </a:prstGeom>
          <a:solidFill>
            <a:srgbClr val="7B5EA7">
              <a:alpha val="25099"/>
            </a:srgbClr>
          </a:solidFill>
          <a:ln cap="flat" cmpd="sng" w="19050">
            <a:solidFill>
              <a:srgbClr val="7B5EA7">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2"/>
          <p:cNvSpPr/>
          <p:nvPr/>
        </p:nvSpPr>
        <p:spPr>
          <a:xfrm>
            <a:off x="228600"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2"/>
          <p:cNvSpPr/>
          <p:nvPr/>
        </p:nvSpPr>
        <p:spPr>
          <a:xfrm>
            <a:off x="576072"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2"/>
          <p:cNvSpPr/>
          <p:nvPr/>
        </p:nvSpPr>
        <p:spPr>
          <a:xfrm>
            <a:off x="923544"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2"/>
          <p:cNvSpPr/>
          <p:nvPr/>
        </p:nvSpPr>
        <p:spPr>
          <a:xfrm>
            <a:off x="1271016"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2"/>
          <p:cNvSpPr/>
          <p:nvPr/>
        </p:nvSpPr>
        <p:spPr>
          <a:xfrm>
            <a:off x="1618488"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2"/>
          <p:cNvSpPr/>
          <p:nvPr/>
        </p:nvSpPr>
        <p:spPr>
          <a:xfrm>
            <a:off x="228600"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2"/>
          <p:cNvSpPr/>
          <p:nvPr/>
        </p:nvSpPr>
        <p:spPr>
          <a:xfrm>
            <a:off x="576072"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2"/>
          <p:cNvSpPr/>
          <p:nvPr/>
        </p:nvSpPr>
        <p:spPr>
          <a:xfrm>
            <a:off x="923544"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2"/>
          <p:cNvSpPr/>
          <p:nvPr/>
        </p:nvSpPr>
        <p:spPr>
          <a:xfrm>
            <a:off x="1271016"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2"/>
          <p:cNvSpPr/>
          <p:nvPr/>
        </p:nvSpPr>
        <p:spPr>
          <a:xfrm>
            <a:off x="1618488"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2"/>
          <p:cNvSpPr/>
          <p:nvPr/>
        </p:nvSpPr>
        <p:spPr>
          <a:xfrm>
            <a:off x="228600"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2"/>
          <p:cNvSpPr/>
          <p:nvPr/>
        </p:nvSpPr>
        <p:spPr>
          <a:xfrm>
            <a:off x="576072"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2"/>
          <p:cNvSpPr/>
          <p:nvPr/>
        </p:nvSpPr>
        <p:spPr>
          <a:xfrm>
            <a:off x="923544"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2"/>
          <p:cNvSpPr/>
          <p:nvPr/>
        </p:nvSpPr>
        <p:spPr>
          <a:xfrm>
            <a:off x="1271016"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2"/>
          <p:cNvSpPr/>
          <p:nvPr/>
        </p:nvSpPr>
        <p:spPr>
          <a:xfrm>
            <a:off x="1618488"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2"/>
          <p:cNvSpPr/>
          <p:nvPr/>
        </p:nvSpPr>
        <p:spPr>
          <a:xfrm>
            <a:off x="228600"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2"/>
          <p:cNvSpPr/>
          <p:nvPr/>
        </p:nvSpPr>
        <p:spPr>
          <a:xfrm>
            <a:off x="576072"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2"/>
          <p:cNvSpPr/>
          <p:nvPr/>
        </p:nvSpPr>
        <p:spPr>
          <a:xfrm>
            <a:off x="923544"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2"/>
          <p:cNvSpPr/>
          <p:nvPr/>
        </p:nvSpPr>
        <p:spPr>
          <a:xfrm>
            <a:off x="1271016"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2"/>
          <p:cNvSpPr/>
          <p:nvPr/>
        </p:nvSpPr>
        <p:spPr>
          <a:xfrm>
            <a:off x="1618488"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2"/>
          <p:cNvSpPr/>
          <p:nvPr/>
        </p:nvSpPr>
        <p:spPr>
          <a:xfrm>
            <a:off x="228600"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2"/>
          <p:cNvSpPr/>
          <p:nvPr/>
        </p:nvSpPr>
        <p:spPr>
          <a:xfrm>
            <a:off x="576072"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2"/>
          <p:cNvSpPr/>
          <p:nvPr/>
        </p:nvSpPr>
        <p:spPr>
          <a:xfrm>
            <a:off x="923544"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2"/>
          <p:cNvSpPr/>
          <p:nvPr/>
        </p:nvSpPr>
        <p:spPr>
          <a:xfrm>
            <a:off x="1271016"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2"/>
          <p:cNvSpPr/>
          <p:nvPr/>
        </p:nvSpPr>
        <p:spPr>
          <a:xfrm>
            <a:off x="1618488"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2"/>
          <p:cNvSpPr/>
          <p:nvPr/>
        </p:nvSpPr>
        <p:spPr>
          <a:xfrm>
            <a:off x="0" y="0"/>
            <a:ext cx="9144000" cy="7773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2"/>
          <p:cNvSpPr/>
          <p:nvPr/>
        </p:nvSpPr>
        <p:spPr>
          <a:xfrm>
            <a:off x="0" y="0"/>
            <a:ext cx="164700" cy="7773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2"/>
          <p:cNvSpPr/>
          <p:nvPr/>
        </p:nvSpPr>
        <p:spPr>
          <a:xfrm>
            <a:off x="8321040" y="0"/>
            <a:ext cx="731400" cy="777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C2A8"/>
              </a:buClr>
              <a:buSzPts val="1800"/>
              <a:buFont typeface="Calibri"/>
              <a:buNone/>
            </a:pPr>
            <a:r>
              <a:rPr b="1" i="0" lang="pl" sz="1800" u="none" cap="none" strike="noStrike">
                <a:solidFill>
                  <a:srgbClr val="00C2A8"/>
                </a:solidFill>
                <a:latin typeface="Calibri"/>
                <a:ea typeface="Calibri"/>
                <a:cs typeface="Calibri"/>
                <a:sym typeface="Calibri"/>
              </a:rPr>
              <a:t>0</a:t>
            </a:r>
            <a:r>
              <a:rPr b="1" lang="pl" sz="1800">
                <a:solidFill>
                  <a:srgbClr val="00C2A8"/>
                </a:solidFill>
                <a:latin typeface="Calibri"/>
                <a:ea typeface="Calibri"/>
                <a:cs typeface="Calibri"/>
                <a:sym typeface="Calibri"/>
              </a:rPr>
              <a:t>7</a:t>
            </a:r>
            <a:endParaRPr b="0" i="0" sz="1800" u="none" cap="none" strike="noStrike">
              <a:solidFill>
                <a:schemeClr val="dk1"/>
              </a:solidFill>
              <a:latin typeface="Calibri"/>
              <a:ea typeface="Calibri"/>
              <a:cs typeface="Calibri"/>
              <a:sym typeface="Calibri"/>
            </a:endParaRPr>
          </a:p>
        </p:txBody>
      </p:sp>
      <p:sp>
        <p:nvSpPr>
          <p:cNvPr id="478" name="Google Shape;478;p22"/>
          <p:cNvSpPr/>
          <p:nvPr/>
        </p:nvSpPr>
        <p:spPr>
          <a:xfrm>
            <a:off x="0" y="4754880"/>
            <a:ext cx="9144000" cy="3885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2"/>
          <p:cNvSpPr/>
          <p:nvPr/>
        </p:nvSpPr>
        <p:spPr>
          <a:xfrm>
            <a:off x="384048" y="0"/>
            <a:ext cx="7772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lang="pl" sz="2200">
                <a:solidFill>
                  <a:schemeClr val="lt1"/>
                </a:solidFill>
                <a:latin typeface="Calibri"/>
                <a:ea typeface="Calibri"/>
                <a:cs typeface="Calibri"/>
                <a:sym typeface="Calibri"/>
              </a:rPr>
              <a:t>POWTÓRZENIE OSZACOWANIA DLA 1000 PRÓB 10-KROTNIE (Kod)</a:t>
            </a:r>
            <a:r>
              <a:rPr lang="pl" sz="2700">
                <a:solidFill>
                  <a:schemeClr val="lt1"/>
                </a:solidFill>
                <a:latin typeface="Calibri"/>
                <a:ea typeface="Calibri"/>
                <a:cs typeface="Calibri"/>
                <a:sym typeface="Calibri"/>
              </a:rPr>
              <a:t> </a:t>
            </a:r>
            <a:r>
              <a:rPr lang="pl" sz="2200">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p:txBody>
      </p:sp>
      <p:sp>
        <p:nvSpPr>
          <p:cNvPr id="480" name="Google Shape;480;p22"/>
          <p:cNvSpPr/>
          <p:nvPr/>
        </p:nvSpPr>
        <p:spPr>
          <a:xfrm>
            <a:off x="5568700" y="960125"/>
            <a:ext cx="3302100" cy="3474600"/>
          </a:xfrm>
          <a:prstGeom prst="rect">
            <a:avLst/>
          </a:prstGeom>
          <a:solidFill>
            <a:srgbClr val="E67F43">
              <a:alpha val="13500"/>
            </a:srgbClr>
          </a:solidFill>
          <a:ln cap="flat" cmpd="sng" w="12700">
            <a:solidFill>
              <a:srgbClr val="E67F43">
                <a:alpha val="451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2"/>
          <p:cNvSpPr txBox="1"/>
          <p:nvPr/>
        </p:nvSpPr>
        <p:spPr>
          <a:xfrm>
            <a:off x="5568700" y="955625"/>
            <a:ext cx="3302100" cy="65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pl" sz="1700">
                <a:solidFill>
                  <a:srgbClr val="7B5EA7"/>
                </a:solidFill>
              </a:rPr>
              <a:t>Scilab Console</a:t>
            </a:r>
            <a:endParaRPr sz="1700">
              <a:solidFill>
                <a:srgbClr val="7B5EA7"/>
              </a:solidFill>
              <a:highlight>
                <a:schemeClr val="lt1"/>
              </a:highlight>
            </a:endParaRPr>
          </a:p>
        </p:txBody>
      </p:sp>
      <p:sp>
        <p:nvSpPr>
          <p:cNvPr id="482" name="Google Shape;482;p22"/>
          <p:cNvSpPr/>
          <p:nvPr/>
        </p:nvSpPr>
        <p:spPr>
          <a:xfrm>
            <a:off x="283500" y="955675"/>
            <a:ext cx="4874400" cy="3474600"/>
          </a:xfrm>
          <a:prstGeom prst="rect">
            <a:avLst/>
          </a:prstGeom>
          <a:solidFill>
            <a:srgbClr val="1A2E4A">
              <a:alpha val="80000"/>
            </a:srgbClr>
          </a:solidFill>
          <a:ln cap="flat" cmpd="sng" w="12700">
            <a:solidFill>
              <a:srgbClr val="7B5EA7">
                <a:alpha val="451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2"/>
          <p:cNvSpPr txBox="1"/>
          <p:nvPr/>
        </p:nvSpPr>
        <p:spPr>
          <a:xfrm>
            <a:off x="283500" y="955625"/>
            <a:ext cx="4874400" cy="65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pl" sz="1700">
                <a:solidFill>
                  <a:srgbClr val="7B5EA7"/>
                </a:solidFill>
              </a:rPr>
              <a:t>SciNotes :</a:t>
            </a:r>
            <a:endParaRPr i="1" sz="1700">
              <a:solidFill>
                <a:srgbClr val="7B5EA7"/>
              </a:solidFill>
              <a:highlight>
                <a:schemeClr val="lt1"/>
              </a:highlight>
            </a:endParaRPr>
          </a:p>
        </p:txBody>
      </p:sp>
      <p:sp>
        <p:nvSpPr>
          <p:cNvPr id="484" name="Google Shape;484;p22"/>
          <p:cNvSpPr/>
          <p:nvPr/>
        </p:nvSpPr>
        <p:spPr>
          <a:xfrm>
            <a:off x="5671725" y="1308050"/>
            <a:ext cx="3106500" cy="3042000"/>
          </a:xfrm>
          <a:prstGeom prst="rect">
            <a:avLst/>
          </a:prstGeom>
          <a:solidFill>
            <a:srgbClr val="152035">
              <a:alpha val="80000"/>
            </a:srgbClr>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l" sz="1150">
                <a:solidFill>
                  <a:schemeClr val="lt1"/>
                </a:solidFill>
              </a:rPr>
              <a:t>"  Powtórzenie 1: V = 2.048"</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Powtórzenie 2: V = 4.096"</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Powtórzenie 3: V = 5.12"</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Powtórzenie 4: V = 0"</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Powtórzenie 5: V = 2.048"</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Powtórzenie 6: V = 1.024"</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Powtórzenie 7: V = 2.048"</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Powtórzenie 8: V = 5.12"</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Powtórzenie 9: V = 3.072"</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Powtórzenie 10: V = 2.048"</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 "</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"Średnia z 10 powtórzeń: V = 2.6624"</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"Błąd bezwzględny: 0.112236"</a:t>
            </a:r>
            <a:endParaRPr sz="1150">
              <a:solidFill>
                <a:schemeClr val="lt1"/>
              </a:solidFill>
            </a:endParaRPr>
          </a:p>
          <a:p>
            <a:pPr indent="0" lvl="0" marL="0" rtl="0" algn="l">
              <a:spcBef>
                <a:spcPts val="0"/>
              </a:spcBef>
              <a:spcAft>
                <a:spcPts val="0"/>
              </a:spcAft>
              <a:buClr>
                <a:schemeClr val="dk1"/>
              </a:buClr>
              <a:buSzPts val="1100"/>
              <a:buFont typeface="Arial"/>
              <a:buNone/>
            </a:pPr>
            <a:r>
              <a:rPr lang="pl" sz="1150">
                <a:solidFill>
                  <a:schemeClr val="lt1"/>
                </a:solidFill>
              </a:rPr>
              <a:t>  "Błąd procentowy: 4.4011271%"</a:t>
            </a:r>
            <a:endParaRPr sz="1150">
              <a:solidFill>
                <a:schemeClr val="lt1"/>
              </a:solidFill>
            </a:endParaRPr>
          </a:p>
          <a:p>
            <a:pPr indent="0" lvl="0" marL="0" rtl="0" algn="l">
              <a:spcBef>
                <a:spcPts val="0"/>
              </a:spcBef>
              <a:spcAft>
                <a:spcPts val="0"/>
              </a:spcAft>
              <a:buNone/>
            </a:pPr>
            <a:r>
              <a:t/>
            </a:r>
            <a:endParaRPr sz="1150">
              <a:solidFill>
                <a:schemeClr val="lt1"/>
              </a:solidFill>
            </a:endParaRPr>
          </a:p>
        </p:txBody>
      </p:sp>
      <p:sp>
        <p:nvSpPr>
          <p:cNvPr id="485" name="Google Shape;485;p22"/>
          <p:cNvSpPr/>
          <p:nvPr/>
        </p:nvSpPr>
        <p:spPr>
          <a:xfrm>
            <a:off x="283500" y="955625"/>
            <a:ext cx="63900" cy="3474600"/>
          </a:xfrm>
          <a:prstGeom prst="rect">
            <a:avLst/>
          </a:prstGeom>
          <a:solidFill>
            <a:srgbClr val="7B5EA7">
              <a:alpha val="70200"/>
            </a:srgbClr>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2"/>
          <p:cNvSpPr/>
          <p:nvPr/>
        </p:nvSpPr>
        <p:spPr>
          <a:xfrm>
            <a:off x="422625" y="1308050"/>
            <a:ext cx="4644900" cy="3079500"/>
          </a:xfrm>
          <a:prstGeom prst="rect">
            <a:avLst/>
          </a:prstGeom>
          <a:solidFill>
            <a:srgbClr val="152035">
              <a:alpha val="8000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200">
                <a:solidFill>
                  <a:schemeClr val="lt1"/>
                </a:solidFill>
              </a:rPr>
              <a:t>liczba_powtorzen = 10;</a:t>
            </a:r>
            <a:endParaRPr sz="1200">
              <a:solidFill>
                <a:schemeClr val="lt1"/>
              </a:solidFill>
            </a:endParaRPr>
          </a:p>
          <a:p>
            <a:pPr indent="0" lvl="0" marL="0" rtl="0" algn="l">
              <a:spcBef>
                <a:spcPts val="0"/>
              </a:spcBef>
              <a:spcAft>
                <a:spcPts val="0"/>
              </a:spcAft>
              <a:buNone/>
            </a:pPr>
            <a:r>
              <a:rPr lang="pl" sz="1200">
                <a:solidFill>
                  <a:schemeClr val="lt1"/>
                </a:solidFill>
              </a:rPr>
              <a:t>wyniki = zeros(1, liczba_powtorzen);</a:t>
            </a:r>
            <a:endParaRPr sz="13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rPr lang="pl" sz="1200">
                <a:solidFill>
                  <a:schemeClr val="lt1"/>
                </a:solidFill>
              </a:rPr>
              <a:t>for i = 1:liczba_powtorzen</a:t>
            </a:r>
            <a:endParaRPr sz="1200">
              <a:solidFill>
                <a:schemeClr val="lt1"/>
              </a:solidFill>
            </a:endParaRPr>
          </a:p>
          <a:p>
            <a:pPr indent="0" lvl="0" marL="0" rtl="0" algn="l">
              <a:spcBef>
                <a:spcPts val="0"/>
              </a:spcBef>
              <a:spcAft>
                <a:spcPts val="0"/>
              </a:spcAft>
              <a:buNone/>
            </a:pPr>
            <a:r>
              <a:rPr lang="pl" sz="1200">
                <a:solidFill>
                  <a:schemeClr val="lt1"/>
                </a:solidFill>
              </a:rPr>
              <a:t>    wyniki(i) = monte_carlo_kula(1000, k);</a:t>
            </a:r>
            <a:endParaRPr sz="1200">
              <a:solidFill>
                <a:schemeClr val="lt1"/>
              </a:solidFill>
            </a:endParaRPr>
          </a:p>
          <a:p>
            <a:pPr indent="0" lvl="0" marL="0" rtl="0" algn="l">
              <a:spcBef>
                <a:spcPts val="0"/>
              </a:spcBef>
              <a:spcAft>
                <a:spcPts val="0"/>
              </a:spcAft>
              <a:buNone/>
            </a:pPr>
            <a:r>
              <a:rPr lang="pl" sz="1200">
                <a:solidFill>
                  <a:schemeClr val="lt1"/>
                </a:solidFill>
              </a:rPr>
              <a:t>    disp("  Powtórzenie " + string(i) + ": V = " + string(wyniki(i)));</a:t>
            </a:r>
            <a:endParaRPr sz="1200">
              <a:solidFill>
                <a:schemeClr val="lt1"/>
              </a:solidFill>
            </a:endParaRPr>
          </a:p>
          <a:p>
            <a:pPr indent="0" lvl="0" marL="0" rtl="0" algn="l">
              <a:spcBef>
                <a:spcPts val="0"/>
              </a:spcBef>
              <a:spcAft>
                <a:spcPts val="0"/>
              </a:spcAft>
              <a:buNone/>
            </a:pPr>
            <a:r>
              <a:rPr lang="pl" sz="1200">
                <a:solidFill>
                  <a:schemeClr val="lt1"/>
                </a:solidFill>
              </a:rPr>
              <a:t>end</a:t>
            </a:r>
            <a:endParaRPr sz="12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rPr lang="pl" sz="1200">
                <a:solidFill>
                  <a:schemeClr val="lt1"/>
                </a:solidFill>
              </a:rPr>
              <a:t>V_srednia = mean(wyniki);</a:t>
            </a:r>
            <a:endParaRPr sz="1200">
              <a:solidFill>
                <a:schemeClr val="lt1"/>
              </a:solidFill>
            </a:endParaRPr>
          </a:p>
          <a:p>
            <a:pPr indent="0" lvl="0" marL="0" rtl="0" algn="l">
              <a:spcBef>
                <a:spcPts val="0"/>
              </a:spcBef>
              <a:spcAft>
                <a:spcPts val="0"/>
              </a:spcAft>
              <a:buNone/>
            </a:pPr>
            <a:r>
              <a:rPr lang="pl" sz="1200">
                <a:solidFill>
                  <a:schemeClr val="lt1"/>
                </a:solidFill>
              </a:rPr>
              <a:t>blad_srednia = abs(V_srednia - V_dokladne);</a:t>
            </a:r>
            <a:endParaRPr sz="1200">
              <a:solidFill>
                <a:schemeClr val="lt1"/>
              </a:solidFill>
            </a:endParaRPr>
          </a:p>
          <a:p>
            <a:pPr indent="0" lvl="0" marL="0" rtl="0" algn="l">
              <a:spcBef>
                <a:spcPts val="0"/>
              </a:spcBef>
              <a:spcAft>
                <a:spcPts val="0"/>
              </a:spcAft>
              <a:buNone/>
            </a:pPr>
            <a:r>
              <a:t/>
            </a:r>
            <a:endParaRPr sz="1200">
              <a:solidFill>
                <a:schemeClr val="lt1"/>
              </a:solidFill>
            </a:endParaRPr>
          </a:p>
          <a:p>
            <a:pPr indent="0" lvl="0" marL="0" rtl="0" algn="l">
              <a:spcBef>
                <a:spcPts val="0"/>
              </a:spcBef>
              <a:spcAft>
                <a:spcPts val="0"/>
              </a:spcAft>
              <a:buNone/>
            </a:pPr>
            <a:r>
              <a:rPr lang="pl" sz="1200">
                <a:solidFill>
                  <a:schemeClr val="lt1"/>
                </a:solidFill>
              </a:rPr>
              <a:t>disp(" ");</a:t>
            </a:r>
            <a:endParaRPr sz="1200">
              <a:solidFill>
                <a:schemeClr val="lt1"/>
              </a:solidFill>
            </a:endParaRPr>
          </a:p>
          <a:p>
            <a:pPr indent="0" lvl="0" marL="0" rtl="0" algn="l">
              <a:spcBef>
                <a:spcPts val="0"/>
              </a:spcBef>
              <a:spcAft>
                <a:spcPts val="0"/>
              </a:spcAft>
              <a:buNone/>
            </a:pPr>
            <a:r>
              <a:rPr lang="pl" sz="1200">
                <a:solidFill>
                  <a:schemeClr val="lt1"/>
                </a:solidFill>
              </a:rPr>
              <a:t>disp("Średnia z 10 powtórzeń: V = " + string(V_srednia));</a:t>
            </a:r>
            <a:endParaRPr sz="1200">
              <a:solidFill>
                <a:schemeClr val="lt1"/>
              </a:solidFill>
            </a:endParaRPr>
          </a:p>
          <a:p>
            <a:pPr indent="0" lvl="0" marL="0" rtl="0" algn="l">
              <a:spcBef>
                <a:spcPts val="0"/>
              </a:spcBef>
              <a:spcAft>
                <a:spcPts val="0"/>
              </a:spcAft>
              <a:buNone/>
            </a:pPr>
            <a:r>
              <a:rPr lang="pl" sz="1200">
                <a:solidFill>
                  <a:schemeClr val="lt1"/>
                </a:solidFill>
              </a:rPr>
              <a:t>disp("Błąd bezwzględny: " + string(blad_srednia));</a:t>
            </a:r>
            <a:endParaRPr sz="1200">
              <a:solidFill>
                <a:schemeClr val="lt1"/>
              </a:solidFill>
            </a:endParaRPr>
          </a:p>
          <a:p>
            <a:pPr indent="0" lvl="0" marL="0" rtl="0" algn="l">
              <a:spcBef>
                <a:spcPts val="0"/>
              </a:spcBef>
              <a:spcAft>
                <a:spcPts val="0"/>
              </a:spcAft>
              <a:buClr>
                <a:schemeClr val="dk1"/>
              </a:buClr>
              <a:buSzPts val="1100"/>
              <a:buFont typeface="Arial"/>
              <a:buNone/>
            </a:pPr>
            <a:r>
              <a:rPr lang="pl" sz="1200">
                <a:solidFill>
                  <a:schemeClr val="lt1"/>
                </a:solidFill>
              </a:rPr>
              <a:t>disp("Błąd procentowy: " + string(blad_srednia/V_dokladne*100) + "%");</a:t>
            </a:r>
            <a:endParaRPr sz="1200">
              <a:solidFill>
                <a:schemeClr val="lt1"/>
              </a:solidFill>
            </a:endParaRPr>
          </a:p>
          <a:p>
            <a:pPr indent="0" lvl="0" marL="0" rtl="0" algn="l">
              <a:spcBef>
                <a:spcPts val="0"/>
              </a:spcBef>
              <a:spcAft>
                <a:spcPts val="0"/>
              </a:spcAft>
              <a:buNone/>
            </a:pPr>
            <a:r>
              <a:t/>
            </a:r>
            <a:endParaRPr sz="1050">
              <a:solidFill>
                <a:schemeClr val="lt1"/>
              </a:solidFill>
            </a:endParaRPr>
          </a:p>
        </p:txBody>
      </p:sp>
      <p:sp>
        <p:nvSpPr>
          <p:cNvPr id="487" name="Google Shape;487;p22"/>
          <p:cNvSpPr/>
          <p:nvPr/>
        </p:nvSpPr>
        <p:spPr>
          <a:xfrm>
            <a:off x="5568700" y="955625"/>
            <a:ext cx="63900" cy="3474600"/>
          </a:xfrm>
          <a:prstGeom prst="rect">
            <a:avLst/>
          </a:prstGeom>
          <a:solidFill>
            <a:srgbClr val="E67F43"/>
          </a:solidFill>
          <a:ln cap="flat" cmpd="sng" w="12700">
            <a:solidFill>
              <a:srgbClr val="E5996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2"/>
          <p:cNvSpPr/>
          <p:nvPr/>
        </p:nvSpPr>
        <p:spPr>
          <a:xfrm>
            <a:off x="4572000" y="4754880"/>
            <a:ext cx="4206300" cy="384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6AD"/>
              </a:buClr>
              <a:buSzPts val="1000"/>
              <a:buFont typeface="Calibri"/>
              <a:buNone/>
            </a:pPr>
            <a:r>
              <a:rPr b="0" i="0" lang="pl" sz="1000" u="none" cap="none" strike="noStrike">
                <a:solidFill>
                  <a:srgbClr val="8A96AD"/>
                </a:solidFill>
                <a:latin typeface="Calibri"/>
                <a:ea typeface="Calibri"/>
                <a:cs typeface="Calibri"/>
                <a:sym typeface="Calibri"/>
              </a:rPr>
              <a:t>[ </a:t>
            </a:r>
            <a:r>
              <a:rPr lang="pl" sz="1000">
                <a:solidFill>
                  <a:srgbClr val="8A96AD"/>
                </a:solidFill>
                <a:latin typeface="Calibri"/>
                <a:ea typeface="Calibri"/>
                <a:cs typeface="Calibri"/>
                <a:sym typeface="Calibri"/>
              </a:rPr>
              <a:t>16.05.2026</a:t>
            </a:r>
            <a:r>
              <a:rPr b="0" i="0" lang="pl" sz="1000" u="none" cap="none" strike="noStrike">
                <a:solidFill>
                  <a:srgbClr val="8A96AD"/>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489" name="Google Shape;489;p22"/>
          <p:cNvSpPr/>
          <p:nvPr/>
        </p:nvSpPr>
        <p:spPr>
          <a:xfrm>
            <a:off x="365760" y="4754880"/>
            <a:ext cx="457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000"/>
              <a:buFont typeface="Calibri"/>
              <a:buNone/>
            </a:pPr>
            <a:r>
              <a:rPr lang="pl" sz="1000">
                <a:solidFill>
                  <a:srgbClr val="8A96AD"/>
                </a:solidFill>
                <a:latin typeface="Calibri"/>
                <a:ea typeface="Calibri"/>
                <a:cs typeface="Calibri"/>
                <a:sym typeface="Calibri"/>
              </a:rPr>
              <a:t>Objętość kuli k-wymiarowej 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30"/>
        </a:solidFill>
      </p:bgPr>
    </p:bg>
    <p:spTree>
      <p:nvGrpSpPr>
        <p:cNvPr id="494" name="Shape 494"/>
        <p:cNvGrpSpPr/>
        <p:nvPr/>
      </p:nvGrpSpPr>
      <p:grpSpPr>
        <a:xfrm>
          <a:off x="0" y="0"/>
          <a:ext cx="0" cy="0"/>
          <a:chOff x="0" y="0"/>
          <a:chExt cx="0" cy="0"/>
        </a:xfrm>
      </p:grpSpPr>
      <p:sp>
        <p:nvSpPr>
          <p:cNvPr id="495" name="Google Shape;495;p23"/>
          <p:cNvSpPr/>
          <p:nvPr/>
        </p:nvSpPr>
        <p:spPr>
          <a:xfrm>
            <a:off x="7406640" y="-1554480"/>
            <a:ext cx="2560200" cy="2560200"/>
          </a:xfrm>
          <a:prstGeom prst="ellipse">
            <a:avLst/>
          </a:prstGeom>
          <a:solidFill>
            <a:srgbClr val="00C2A8">
              <a:alpha val="20000"/>
            </a:srgbClr>
          </a:solidFill>
          <a:ln cap="flat" cmpd="sng" w="19050">
            <a:solidFill>
              <a:srgbClr val="00C2A8">
                <a:alpha val="1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3"/>
          <p:cNvSpPr/>
          <p:nvPr/>
        </p:nvSpPr>
        <p:spPr>
          <a:xfrm>
            <a:off x="7680960" y="731520"/>
            <a:ext cx="1280100" cy="1280100"/>
          </a:xfrm>
          <a:prstGeom prst="ellipse">
            <a:avLst/>
          </a:prstGeom>
          <a:solidFill>
            <a:srgbClr val="7B5EA7">
              <a:alpha val="25099"/>
            </a:srgbClr>
          </a:solidFill>
          <a:ln cap="flat" cmpd="sng" w="19050">
            <a:solidFill>
              <a:srgbClr val="7B5EA7">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3"/>
          <p:cNvSpPr/>
          <p:nvPr/>
        </p:nvSpPr>
        <p:spPr>
          <a:xfrm>
            <a:off x="228600"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3"/>
          <p:cNvSpPr/>
          <p:nvPr/>
        </p:nvSpPr>
        <p:spPr>
          <a:xfrm>
            <a:off x="576072"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3"/>
          <p:cNvSpPr/>
          <p:nvPr/>
        </p:nvSpPr>
        <p:spPr>
          <a:xfrm>
            <a:off x="923544"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3"/>
          <p:cNvSpPr/>
          <p:nvPr/>
        </p:nvSpPr>
        <p:spPr>
          <a:xfrm>
            <a:off x="1271016"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3"/>
          <p:cNvSpPr/>
          <p:nvPr/>
        </p:nvSpPr>
        <p:spPr>
          <a:xfrm>
            <a:off x="1618488"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3"/>
          <p:cNvSpPr/>
          <p:nvPr/>
        </p:nvSpPr>
        <p:spPr>
          <a:xfrm>
            <a:off x="228600"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3"/>
          <p:cNvSpPr/>
          <p:nvPr/>
        </p:nvSpPr>
        <p:spPr>
          <a:xfrm>
            <a:off x="576072"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3"/>
          <p:cNvSpPr/>
          <p:nvPr/>
        </p:nvSpPr>
        <p:spPr>
          <a:xfrm>
            <a:off x="923544"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3"/>
          <p:cNvSpPr/>
          <p:nvPr/>
        </p:nvSpPr>
        <p:spPr>
          <a:xfrm>
            <a:off x="1271016"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3"/>
          <p:cNvSpPr/>
          <p:nvPr/>
        </p:nvSpPr>
        <p:spPr>
          <a:xfrm>
            <a:off x="1618488"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3"/>
          <p:cNvSpPr/>
          <p:nvPr/>
        </p:nvSpPr>
        <p:spPr>
          <a:xfrm>
            <a:off x="228600"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3"/>
          <p:cNvSpPr/>
          <p:nvPr/>
        </p:nvSpPr>
        <p:spPr>
          <a:xfrm>
            <a:off x="576072"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3"/>
          <p:cNvSpPr/>
          <p:nvPr/>
        </p:nvSpPr>
        <p:spPr>
          <a:xfrm>
            <a:off x="923544"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3"/>
          <p:cNvSpPr/>
          <p:nvPr/>
        </p:nvSpPr>
        <p:spPr>
          <a:xfrm>
            <a:off x="1271016"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3"/>
          <p:cNvSpPr/>
          <p:nvPr/>
        </p:nvSpPr>
        <p:spPr>
          <a:xfrm>
            <a:off x="1618488"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3"/>
          <p:cNvSpPr/>
          <p:nvPr/>
        </p:nvSpPr>
        <p:spPr>
          <a:xfrm>
            <a:off x="228600"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3"/>
          <p:cNvSpPr/>
          <p:nvPr/>
        </p:nvSpPr>
        <p:spPr>
          <a:xfrm>
            <a:off x="576072"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3"/>
          <p:cNvSpPr/>
          <p:nvPr/>
        </p:nvSpPr>
        <p:spPr>
          <a:xfrm>
            <a:off x="923544"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3"/>
          <p:cNvSpPr/>
          <p:nvPr/>
        </p:nvSpPr>
        <p:spPr>
          <a:xfrm>
            <a:off x="1271016"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3"/>
          <p:cNvSpPr/>
          <p:nvPr/>
        </p:nvSpPr>
        <p:spPr>
          <a:xfrm>
            <a:off x="1618488"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3"/>
          <p:cNvSpPr/>
          <p:nvPr/>
        </p:nvSpPr>
        <p:spPr>
          <a:xfrm>
            <a:off x="228600"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3"/>
          <p:cNvSpPr/>
          <p:nvPr/>
        </p:nvSpPr>
        <p:spPr>
          <a:xfrm>
            <a:off x="576072"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3"/>
          <p:cNvSpPr/>
          <p:nvPr/>
        </p:nvSpPr>
        <p:spPr>
          <a:xfrm>
            <a:off x="923544"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3"/>
          <p:cNvSpPr/>
          <p:nvPr/>
        </p:nvSpPr>
        <p:spPr>
          <a:xfrm>
            <a:off x="1271016"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3"/>
          <p:cNvSpPr/>
          <p:nvPr/>
        </p:nvSpPr>
        <p:spPr>
          <a:xfrm>
            <a:off x="1618488"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3"/>
          <p:cNvSpPr/>
          <p:nvPr/>
        </p:nvSpPr>
        <p:spPr>
          <a:xfrm>
            <a:off x="0" y="0"/>
            <a:ext cx="9144000" cy="7773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3"/>
          <p:cNvSpPr/>
          <p:nvPr/>
        </p:nvSpPr>
        <p:spPr>
          <a:xfrm>
            <a:off x="0" y="0"/>
            <a:ext cx="164700" cy="7773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3"/>
          <p:cNvSpPr/>
          <p:nvPr/>
        </p:nvSpPr>
        <p:spPr>
          <a:xfrm>
            <a:off x="384048" y="0"/>
            <a:ext cx="7772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lang="pl" sz="2200">
                <a:solidFill>
                  <a:schemeClr val="lt1"/>
                </a:solidFill>
                <a:latin typeface="Calibri"/>
                <a:ea typeface="Calibri"/>
                <a:cs typeface="Calibri"/>
                <a:sym typeface="Calibri"/>
              </a:rPr>
              <a:t>PORÓWNANIE STRATEGII</a:t>
            </a:r>
            <a:r>
              <a:rPr lang="pl" sz="2700">
                <a:solidFill>
                  <a:schemeClr val="lt1"/>
                </a:solidFill>
                <a:latin typeface="Calibri"/>
                <a:ea typeface="Calibri"/>
                <a:cs typeface="Calibri"/>
                <a:sym typeface="Calibri"/>
              </a:rPr>
              <a:t> </a:t>
            </a:r>
            <a:r>
              <a:rPr lang="pl" sz="2200">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p:txBody>
      </p:sp>
      <p:sp>
        <p:nvSpPr>
          <p:cNvPr id="525" name="Google Shape;525;p23"/>
          <p:cNvSpPr/>
          <p:nvPr/>
        </p:nvSpPr>
        <p:spPr>
          <a:xfrm>
            <a:off x="8321040" y="0"/>
            <a:ext cx="731400" cy="777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C2A8"/>
              </a:buClr>
              <a:buSzPts val="1800"/>
              <a:buFont typeface="Calibri"/>
              <a:buNone/>
            </a:pPr>
            <a:r>
              <a:rPr b="1" i="0" lang="pl" sz="1800" u="none" cap="none" strike="noStrike">
                <a:solidFill>
                  <a:srgbClr val="00C2A8"/>
                </a:solidFill>
                <a:latin typeface="Calibri"/>
                <a:ea typeface="Calibri"/>
                <a:cs typeface="Calibri"/>
                <a:sym typeface="Calibri"/>
              </a:rPr>
              <a:t>0</a:t>
            </a:r>
            <a:r>
              <a:rPr b="1" lang="pl" sz="1800">
                <a:solidFill>
                  <a:srgbClr val="00C2A8"/>
                </a:solidFill>
                <a:latin typeface="Calibri"/>
                <a:ea typeface="Calibri"/>
                <a:cs typeface="Calibri"/>
                <a:sym typeface="Calibri"/>
              </a:rPr>
              <a:t>8</a:t>
            </a:r>
            <a:endParaRPr b="0" i="0" sz="1800" u="none" cap="none" strike="noStrike">
              <a:solidFill>
                <a:schemeClr val="dk1"/>
              </a:solidFill>
              <a:latin typeface="Calibri"/>
              <a:ea typeface="Calibri"/>
              <a:cs typeface="Calibri"/>
              <a:sym typeface="Calibri"/>
            </a:endParaRPr>
          </a:p>
        </p:txBody>
      </p:sp>
      <p:sp>
        <p:nvSpPr>
          <p:cNvPr id="526" name="Google Shape;526;p23"/>
          <p:cNvSpPr/>
          <p:nvPr/>
        </p:nvSpPr>
        <p:spPr>
          <a:xfrm>
            <a:off x="365750" y="960125"/>
            <a:ext cx="4111800" cy="1186500"/>
          </a:xfrm>
          <a:prstGeom prst="rect">
            <a:avLst/>
          </a:prstGeom>
          <a:solidFill>
            <a:srgbClr val="3CD70A">
              <a:alpha val="17680"/>
            </a:srgbClr>
          </a:solidFill>
          <a:ln cap="flat" cmpd="sng" w="12700">
            <a:solidFill>
              <a:srgbClr val="00C2A8">
                <a:alpha val="40000"/>
              </a:srgbClr>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pl" sz="1800">
                <a:solidFill>
                  <a:schemeClr val="accent6"/>
                </a:solidFill>
              </a:rPr>
              <a:t>Strategia A : 10 x 1000 (uśrednione)</a:t>
            </a:r>
            <a:endParaRPr b="1" sz="1800">
              <a:solidFill>
                <a:schemeClr val="accent6"/>
              </a:solidFill>
            </a:endParaRPr>
          </a:p>
          <a:p>
            <a:pPr indent="0" lvl="0" marL="0" rtl="0" algn="ctr">
              <a:spcBef>
                <a:spcPts val="0"/>
              </a:spcBef>
              <a:spcAft>
                <a:spcPts val="0"/>
              </a:spcAft>
              <a:buNone/>
            </a:pPr>
            <a:r>
              <a:rPr lang="pl">
                <a:solidFill>
                  <a:schemeClr val="lt1"/>
                </a:solidFill>
              </a:rPr>
              <a:t>Wynik: 2.6624</a:t>
            </a:r>
            <a:endParaRPr>
              <a:solidFill>
                <a:schemeClr val="lt1"/>
              </a:solidFill>
            </a:endParaRPr>
          </a:p>
          <a:p>
            <a:pPr indent="0" lvl="0" marL="0" rtl="0" algn="ctr">
              <a:spcBef>
                <a:spcPts val="0"/>
              </a:spcBef>
              <a:spcAft>
                <a:spcPts val="0"/>
              </a:spcAft>
              <a:buNone/>
            </a:pPr>
            <a:r>
              <a:rPr lang="pl">
                <a:solidFill>
                  <a:schemeClr val="lt1"/>
                </a:solidFill>
              </a:rPr>
              <a:t>Błąd bezwzględny: 0.112236</a:t>
            </a:r>
            <a:endParaRPr>
              <a:solidFill>
                <a:schemeClr val="lt1"/>
              </a:solidFill>
            </a:endParaRPr>
          </a:p>
          <a:p>
            <a:pPr indent="0" lvl="0" marL="0" rtl="0" algn="ctr">
              <a:spcBef>
                <a:spcPts val="0"/>
              </a:spcBef>
              <a:spcAft>
                <a:spcPts val="0"/>
              </a:spcAft>
              <a:buNone/>
            </a:pPr>
            <a:r>
              <a:rPr lang="pl">
                <a:solidFill>
                  <a:schemeClr val="lt1"/>
                </a:solidFill>
              </a:rPr>
              <a:t>Błąd procentowy: 4.4011271%</a:t>
            </a:r>
            <a:endParaRPr>
              <a:solidFill>
                <a:schemeClr val="lt1"/>
              </a:solidFill>
            </a:endParaRPr>
          </a:p>
        </p:txBody>
      </p:sp>
      <p:sp>
        <p:nvSpPr>
          <p:cNvPr id="527" name="Google Shape;527;p23"/>
          <p:cNvSpPr/>
          <p:nvPr/>
        </p:nvSpPr>
        <p:spPr>
          <a:xfrm>
            <a:off x="365750" y="960122"/>
            <a:ext cx="63900" cy="11865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3"/>
          <p:cNvSpPr/>
          <p:nvPr/>
        </p:nvSpPr>
        <p:spPr>
          <a:xfrm>
            <a:off x="4783225" y="960125"/>
            <a:ext cx="3995100" cy="1186500"/>
          </a:xfrm>
          <a:prstGeom prst="rect">
            <a:avLst/>
          </a:prstGeom>
          <a:solidFill>
            <a:srgbClr val="C91414">
              <a:alpha val="21340"/>
            </a:srgbClr>
          </a:solidFill>
          <a:ln cap="flat" cmpd="sng" w="12700">
            <a:solidFill>
              <a:srgbClr val="CD1A1A">
                <a:alpha val="45100"/>
              </a:srgbClr>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pl" sz="1800">
                <a:solidFill>
                  <a:srgbClr val="A61C00"/>
                </a:solidFill>
              </a:rPr>
              <a:t>Strategia B : 1 x 10000</a:t>
            </a:r>
            <a:endParaRPr b="1" sz="1800">
              <a:solidFill>
                <a:srgbClr val="A61C00"/>
              </a:solidFill>
            </a:endParaRPr>
          </a:p>
          <a:p>
            <a:pPr indent="0" lvl="0" marL="0" rtl="0" algn="ctr">
              <a:spcBef>
                <a:spcPts val="0"/>
              </a:spcBef>
              <a:spcAft>
                <a:spcPts val="0"/>
              </a:spcAft>
              <a:buClr>
                <a:schemeClr val="dk1"/>
              </a:buClr>
              <a:buSzPts val="1100"/>
              <a:buFont typeface="Arial"/>
              <a:buNone/>
            </a:pPr>
            <a:r>
              <a:rPr lang="pl">
                <a:solidFill>
                  <a:schemeClr val="lt1"/>
                </a:solidFill>
              </a:rPr>
              <a:t>Wynik: </a:t>
            </a:r>
            <a:r>
              <a:rPr lang="pl">
                <a:solidFill>
                  <a:schemeClr val="lt1"/>
                </a:solidFill>
                <a:latin typeface="Calibri"/>
                <a:ea typeface="Calibri"/>
                <a:cs typeface="Calibri"/>
                <a:sym typeface="Calibri"/>
              </a:rPr>
              <a:t>2.2528</a:t>
            </a:r>
            <a:endParaRPr sz="1100">
              <a:solidFill>
                <a:schemeClr val="lt1"/>
              </a:solidFill>
            </a:endParaRPr>
          </a:p>
          <a:p>
            <a:pPr indent="0" lvl="0" marL="0" rtl="0" algn="ctr">
              <a:spcBef>
                <a:spcPts val="0"/>
              </a:spcBef>
              <a:spcAft>
                <a:spcPts val="0"/>
              </a:spcAft>
              <a:buClr>
                <a:schemeClr val="dk1"/>
              </a:buClr>
              <a:buSzPts val="1100"/>
              <a:buFont typeface="Arial"/>
              <a:buNone/>
            </a:pPr>
            <a:r>
              <a:rPr lang="pl">
                <a:solidFill>
                  <a:schemeClr val="lt1"/>
                </a:solidFill>
              </a:rPr>
              <a:t>Błąd bezwzględny: 0.297364</a:t>
            </a:r>
            <a:endParaRPr>
              <a:solidFill>
                <a:schemeClr val="lt1"/>
              </a:solidFill>
            </a:endParaRPr>
          </a:p>
          <a:p>
            <a:pPr indent="0" lvl="0" marL="0" rtl="0" algn="ctr">
              <a:spcBef>
                <a:spcPts val="0"/>
              </a:spcBef>
              <a:spcAft>
                <a:spcPts val="0"/>
              </a:spcAft>
              <a:buClr>
                <a:schemeClr val="dk1"/>
              </a:buClr>
              <a:buSzPts val="1100"/>
              <a:buFont typeface="Arial"/>
              <a:buNone/>
            </a:pPr>
            <a:r>
              <a:rPr lang="pl">
                <a:solidFill>
                  <a:schemeClr val="lt1"/>
                </a:solidFill>
              </a:rPr>
              <a:t>Błąd procentowy: 11.660585%</a:t>
            </a:r>
            <a:endParaRPr>
              <a:solidFill>
                <a:schemeClr val="lt1"/>
              </a:solidFill>
            </a:endParaRPr>
          </a:p>
          <a:p>
            <a:pPr indent="0" lvl="0" marL="0" rtl="0" algn="ctr">
              <a:spcBef>
                <a:spcPts val="0"/>
              </a:spcBef>
              <a:spcAft>
                <a:spcPts val="0"/>
              </a:spcAft>
              <a:buNone/>
            </a:pPr>
            <a:r>
              <a:t/>
            </a:r>
            <a:endParaRPr sz="1800"/>
          </a:p>
          <a:p>
            <a:pPr indent="0" lvl="0" marL="0" rtl="0" algn="ctr">
              <a:spcBef>
                <a:spcPts val="0"/>
              </a:spcBef>
              <a:spcAft>
                <a:spcPts val="0"/>
              </a:spcAft>
              <a:buNone/>
            </a:pPr>
            <a:r>
              <a:t/>
            </a:r>
            <a:endParaRPr sz="1000"/>
          </a:p>
        </p:txBody>
      </p:sp>
      <p:sp>
        <p:nvSpPr>
          <p:cNvPr id="529" name="Google Shape;529;p23"/>
          <p:cNvSpPr/>
          <p:nvPr/>
        </p:nvSpPr>
        <p:spPr>
          <a:xfrm>
            <a:off x="4783225" y="960125"/>
            <a:ext cx="63900" cy="1186500"/>
          </a:xfrm>
          <a:prstGeom prst="rect">
            <a:avLst/>
          </a:prstGeom>
          <a:solidFill>
            <a:srgbClr val="980000"/>
          </a:solidFill>
          <a:ln cap="flat" cmpd="sng" w="12700">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3"/>
          <p:cNvSpPr/>
          <p:nvPr/>
        </p:nvSpPr>
        <p:spPr>
          <a:xfrm>
            <a:off x="0" y="4754880"/>
            <a:ext cx="9144000" cy="3885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3"/>
          <p:cNvSpPr/>
          <p:nvPr/>
        </p:nvSpPr>
        <p:spPr>
          <a:xfrm>
            <a:off x="365750" y="2313500"/>
            <a:ext cx="8412600" cy="2117100"/>
          </a:xfrm>
          <a:prstGeom prst="rect">
            <a:avLst/>
          </a:prstGeom>
          <a:solidFill>
            <a:srgbClr val="1A2E4A">
              <a:alpha val="80000"/>
            </a:srgbClr>
          </a:solidFill>
          <a:ln cap="flat" cmpd="sng" w="12700">
            <a:solidFill>
              <a:srgbClr val="7B5EA7">
                <a:alpha val="45100"/>
              </a:srgbClr>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pl" sz="1200">
                <a:solidFill>
                  <a:schemeClr val="lt1"/>
                </a:solidFill>
              </a:rPr>
              <a:t>Obie strategie wykorzystują łącznie tę samą liczbę punktów, czyli 10000, dlatego teoretycznie powinny dawać zbliżoną dokładność. W praktyce różnice wynikają głównie z charakteru losowości metody Monte Carlo.</a:t>
            </a:r>
            <a:endParaRPr sz="1200">
              <a:solidFill>
                <a:schemeClr val="lt1"/>
              </a:solidFill>
            </a:endParaRPr>
          </a:p>
          <a:p>
            <a:pPr indent="-285750" lvl="0" marL="457200" rtl="0" algn="l">
              <a:lnSpc>
                <a:spcPct val="115000"/>
              </a:lnSpc>
              <a:spcBef>
                <a:spcPts val="1200"/>
              </a:spcBef>
              <a:spcAft>
                <a:spcPts val="0"/>
              </a:spcAft>
              <a:buClr>
                <a:schemeClr val="lt1"/>
              </a:buClr>
              <a:buSzPts val="900"/>
              <a:buChar char="●"/>
            </a:pPr>
            <a:r>
              <a:rPr lang="pl" sz="1200">
                <a:solidFill>
                  <a:schemeClr val="lt1"/>
                </a:solidFill>
              </a:rPr>
              <a:t>Strategia A zapewnia większą stabilność wyników dzięki uśrednianiu wielu niezależnych estymacji.</a:t>
            </a:r>
            <a:endParaRPr sz="1200">
              <a:solidFill>
                <a:schemeClr val="lt1"/>
              </a:solidFill>
            </a:endParaRPr>
          </a:p>
          <a:p>
            <a:pPr indent="-285750" lvl="0" marL="457200" rtl="0" algn="l">
              <a:lnSpc>
                <a:spcPct val="115000"/>
              </a:lnSpc>
              <a:spcBef>
                <a:spcPts val="0"/>
              </a:spcBef>
              <a:spcAft>
                <a:spcPts val="0"/>
              </a:spcAft>
              <a:buClr>
                <a:schemeClr val="lt1"/>
              </a:buClr>
              <a:buSzPts val="900"/>
              <a:buChar char="●"/>
            </a:pPr>
            <a:r>
              <a:rPr lang="pl" sz="1200">
                <a:solidFill>
                  <a:schemeClr val="lt1"/>
                </a:solidFill>
              </a:rPr>
              <a:t>Strategia B zwykle daje bardzo dobrą dokładność dzięki dużej liczbie punktów w jednej próbie i jest prostsza obliczeniowo.</a:t>
            </a:r>
            <a:endParaRPr sz="12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lang="pl" sz="1200">
                <a:solidFill>
                  <a:schemeClr val="lt1"/>
                </a:solidFill>
              </a:rPr>
              <a:t>W większości przypadków pojedyncza próba z 10000 punktów daje wynik nieco dokładniejszy, natomiast strategia 10×1000 może oferować bardziej stabilne i mniej podatne na przypadkowe odchylenia oszacowanie.</a:t>
            </a:r>
            <a:endParaRPr sz="1200">
              <a:solidFill>
                <a:schemeClr val="lt1"/>
              </a:solidFill>
            </a:endParaRPr>
          </a:p>
          <a:p>
            <a:pPr indent="0" lvl="0" marL="0" rtl="0" algn="ctr">
              <a:spcBef>
                <a:spcPts val="1200"/>
              </a:spcBef>
              <a:spcAft>
                <a:spcPts val="0"/>
              </a:spcAft>
              <a:buNone/>
            </a:pPr>
            <a:r>
              <a:t/>
            </a:r>
            <a:endParaRPr sz="1200">
              <a:solidFill>
                <a:schemeClr val="lt1"/>
              </a:solidFill>
            </a:endParaRPr>
          </a:p>
        </p:txBody>
      </p:sp>
      <p:sp>
        <p:nvSpPr>
          <p:cNvPr id="532" name="Google Shape;532;p23"/>
          <p:cNvSpPr/>
          <p:nvPr/>
        </p:nvSpPr>
        <p:spPr>
          <a:xfrm>
            <a:off x="320150" y="2313500"/>
            <a:ext cx="63900" cy="2117100"/>
          </a:xfrm>
          <a:prstGeom prst="rect">
            <a:avLst/>
          </a:prstGeom>
          <a:solidFill>
            <a:srgbClr val="7B5EA7">
              <a:alpha val="70200"/>
            </a:srgbClr>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3"/>
          <p:cNvSpPr/>
          <p:nvPr/>
        </p:nvSpPr>
        <p:spPr>
          <a:xfrm>
            <a:off x="4572000" y="4754880"/>
            <a:ext cx="4206300" cy="384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6AD"/>
              </a:buClr>
              <a:buSzPts val="1000"/>
              <a:buFont typeface="Calibri"/>
              <a:buNone/>
            </a:pPr>
            <a:r>
              <a:rPr b="0" i="0" lang="pl" sz="1000" u="none" cap="none" strike="noStrike">
                <a:solidFill>
                  <a:srgbClr val="8A96AD"/>
                </a:solidFill>
                <a:latin typeface="Calibri"/>
                <a:ea typeface="Calibri"/>
                <a:cs typeface="Calibri"/>
                <a:sym typeface="Calibri"/>
              </a:rPr>
              <a:t>[ </a:t>
            </a:r>
            <a:r>
              <a:rPr lang="pl" sz="1000">
                <a:solidFill>
                  <a:srgbClr val="8A96AD"/>
                </a:solidFill>
                <a:latin typeface="Calibri"/>
                <a:ea typeface="Calibri"/>
                <a:cs typeface="Calibri"/>
                <a:sym typeface="Calibri"/>
              </a:rPr>
              <a:t>16.05.2026</a:t>
            </a:r>
            <a:r>
              <a:rPr b="0" i="0" lang="pl" sz="1000" u="none" cap="none" strike="noStrike">
                <a:solidFill>
                  <a:srgbClr val="8A96AD"/>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534" name="Google Shape;534;p23"/>
          <p:cNvSpPr/>
          <p:nvPr/>
        </p:nvSpPr>
        <p:spPr>
          <a:xfrm>
            <a:off x="365760" y="4754880"/>
            <a:ext cx="457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000"/>
              <a:buFont typeface="Calibri"/>
              <a:buNone/>
            </a:pPr>
            <a:r>
              <a:rPr lang="pl" sz="1000">
                <a:solidFill>
                  <a:srgbClr val="8A96AD"/>
                </a:solidFill>
                <a:latin typeface="Calibri"/>
                <a:ea typeface="Calibri"/>
                <a:cs typeface="Calibri"/>
                <a:sym typeface="Calibri"/>
              </a:rPr>
              <a:t>Objętość kuli k-wymiarowej 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30"/>
        </a:solidFill>
      </p:bgPr>
    </p:bg>
    <p:spTree>
      <p:nvGrpSpPr>
        <p:cNvPr id="539" name="Shape 539"/>
        <p:cNvGrpSpPr/>
        <p:nvPr/>
      </p:nvGrpSpPr>
      <p:grpSpPr>
        <a:xfrm>
          <a:off x="0" y="0"/>
          <a:ext cx="0" cy="0"/>
          <a:chOff x="0" y="0"/>
          <a:chExt cx="0" cy="0"/>
        </a:xfrm>
      </p:grpSpPr>
      <p:sp>
        <p:nvSpPr>
          <p:cNvPr id="540" name="Google Shape;540;p24"/>
          <p:cNvSpPr/>
          <p:nvPr/>
        </p:nvSpPr>
        <p:spPr>
          <a:xfrm>
            <a:off x="7406640" y="-1554480"/>
            <a:ext cx="2560200" cy="2560200"/>
          </a:xfrm>
          <a:prstGeom prst="ellipse">
            <a:avLst/>
          </a:prstGeom>
          <a:solidFill>
            <a:srgbClr val="00C2A8">
              <a:alpha val="20000"/>
            </a:srgbClr>
          </a:solidFill>
          <a:ln cap="flat" cmpd="sng" w="19050">
            <a:solidFill>
              <a:srgbClr val="00C2A8">
                <a:alpha val="1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4"/>
          <p:cNvSpPr/>
          <p:nvPr/>
        </p:nvSpPr>
        <p:spPr>
          <a:xfrm>
            <a:off x="7680960" y="731520"/>
            <a:ext cx="1280100" cy="1280100"/>
          </a:xfrm>
          <a:prstGeom prst="ellipse">
            <a:avLst/>
          </a:prstGeom>
          <a:solidFill>
            <a:srgbClr val="7B5EA7">
              <a:alpha val="25099"/>
            </a:srgbClr>
          </a:solidFill>
          <a:ln cap="flat" cmpd="sng" w="19050">
            <a:solidFill>
              <a:srgbClr val="7B5EA7">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4"/>
          <p:cNvSpPr/>
          <p:nvPr/>
        </p:nvSpPr>
        <p:spPr>
          <a:xfrm>
            <a:off x="228600"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4"/>
          <p:cNvSpPr/>
          <p:nvPr/>
        </p:nvSpPr>
        <p:spPr>
          <a:xfrm>
            <a:off x="576072"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4"/>
          <p:cNvSpPr/>
          <p:nvPr/>
        </p:nvSpPr>
        <p:spPr>
          <a:xfrm>
            <a:off x="923544"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4"/>
          <p:cNvSpPr/>
          <p:nvPr/>
        </p:nvSpPr>
        <p:spPr>
          <a:xfrm>
            <a:off x="1271016"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4"/>
          <p:cNvSpPr/>
          <p:nvPr/>
        </p:nvSpPr>
        <p:spPr>
          <a:xfrm>
            <a:off x="1618488"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4"/>
          <p:cNvSpPr/>
          <p:nvPr/>
        </p:nvSpPr>
        <p:spPr>
          <a:xfrm>
            <a:off x="228600"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4"/>
          <p:cNvSpPr/>
          <p:nvPr/>
        </p:nvSpPr>
        <p:spPr>
          <a:xfrm>
            <a:off x="576072"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4"/>
          <p:cNvSpPr/>
          <p:nvPr/>
        </p:nvSpPr>
        <p:spPr>
          <a:xfrm>
            <a:off x="923544"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4"/>
          <p:cNvSpPr/>
          <p:nvPr/>
        </p:nvSpPr>
        <p:spPr>
          <a:xfrm>
            <a:off x="1271016"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4"/>
          <p:cNvSpPr/>
          <p:nvPr/>
        </p:nvSpPr>
        <p:spPr>
          <a:xfrm>
            <a:off x="1618488"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4"/>
          <p:cNvSpPr/>
          <p:nvPr/>
        </p:nvSpPr>
        <p:spPr>
          <a:xfrm>
            <a:off x="228600"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4"/>
          <p:cNvSpPr/>
          <p:nvPr/>
        </p:nvSpPr>
        <p:spPr>
          <a:xfrm>
            <a:off x="576072"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4"/>
          <p:cNvSpPr/>
          <p:nvPr/>
        </p:nvSpPr>
        <p:spPr>
          <a:xfrm>
            <a:off x="923544"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4"/>
          <p:cNvSpPr/>
          <p:nvPr/>
        </p:nvSpPr>
        <p:spPr>
          <a:xfrm>
            <a:off x="1271016"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4"/>
          <p:cNvSpPr/>
          <p:nvPr/>
        </p:nvSpPr>
        <p:spPr>
          <a:xfrm>
            <a:off x="1618488"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4"/>
          <p:cNvSpPr/>
          <p:nvPr/>
        </p:nvSpPr>
        <p:spPr>
          <a:xfrm>
            <a:off x="228600"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4"/>
          <p:cNvSpPr/>
          <p:nvPr/>
        </p:nvSpPr>
        <p:spPr>
          <a:xfrm>
            <a:off x="576072"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4"/>
          <p:cNvSpPr/>
          <p:nvPr/>
        </p:nvSpPr>
        <p:spPr>
          <a:xfrm>
            <a:off x="923544"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4"/>
          <p:cNvSpPr/>
          <p:nvPr/>
        </p:nvSpPr>
        <p:spPr>
          <a:xfrm>
            <a:off x="1271016"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4"/>
          <p:cNvSpPr/>
          <p:nvPr/>
        </p:nvSpPr>
        <p:spPr>
          <a:xfrm>
            <a:off x="1618488"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4"/>
          <p:cNvSpPr/>
          <p:nvPr/>
        </p:nvSpPr>
        <p:spPr>
          <a:xfrm>
            <a:off x="228600"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4"/>
          <p:cNvSpPr/>
          <p:nvPr/>
        </p:nvSpPr>
        <p:spPr>
          <a:xfrm>
            <a:off x="576072"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4"/>
          <p:cNvSpPr/>
          <p:nvPr/>
        </p:nvSpPr>
        <p:spPr>
          <a:xfrm>
            <a:off x="923544"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4"/>
          <p:cNvSpPr/>
          <p:nvPr/>
        </p:nvSpPr>
        <p:spPr>
          <a:xfrm>
            <a:off x="1271016"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4"/>
          <p:cNvSpPr/>
          <p:nvPr/>
        </p:nvSpPr>
        <p:spPr>
          <a:xfrm>
            <a:off x="1618488"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4"/>
          <p:cNvSpPr/>
          <p:nvPr/>
        </p:nvSpPr>
        <p:spPr>
          <a:xfrm>
            <a:off x="0" y="0"/>
            <a:ext cx="9144000" cy="7773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4"/>
          <p:cNvSpPr/>
          <p:nvPr/>
        </p:nvSpPr>
        <p:spPr>
          <a:xfrm>
            <a:off x="0" y="0"/>
            <a:ext cx="164700" cy="7773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4"/>
          <p:cNvSpPr/>
          <p:nvPr/>
        </p:nvSpPr>
        <p:spPr>
          <a:xfrm>
            <a:off x="384048" y="0"/>
            <a:ext cx="7772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lang="pl" sz="2200">
                <a:solidFill>
                  <a:schemeClr val="lt1"/>
                </a:solidFill>
                <a:latin typeface="Calibri"/>
                <a:ea typeface="Calibri"/>
                <a:cs typeface="Calibri"/>
                <a:sym typeface="Calibri"/>
              </a:rPr>
              <a:t>PORÓWNANIE STRATEGII (BONUS)</a:t>
            </a:r>
            <a:r>
              <a:rPr lang="pl" sz="2700">
                <a:solidFill>
                  <a:schemeClr val="lt1"/>
                </a:solidFill>
                <a:latin typeface="Calibri"/>
                <a:ea typeface="Calibri"/>
                <a:cs typeface="Calibri"/>
                <a:sym typeface="Calibri"/>
              </a:rPr>
              <a:t> </a:t>
            </a:r>
            <a:r>
              <a:rPr lang="pl" sz="2200">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p:txBody>
      </p:sp>
      <p:sp>
        <p:nvSpPr>
          <p:cNvPr id="570" name="Google Shape;570;p24"/>
          <p:cNvSpPr/>
          <p:nvPr/>
        </p:nvSpPr>
        <p:spPr>
          <a:xfrm>
            <a:off x="8321040" y="0"/>
            <a:ext cx="731400" cy="777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C2A8"/>
              </a:buClr>
              <a:buSzPts val="1800"/>
              <a:buFont typeface="Calibri"/>
              <a:buNone/>
            </a:pPr>
            <a:r>
              <a:rPr b="1" i="0" lang="pl" sz="1800" u="none" cap="none" strike="noStrike">
                <a:solidFill>
                  <a:srgbClr val="00C2A8"/>
                </a:solidFill>
                <a:latin typeface="Calibri"/>
                <a:ea typeface="Calibri"/>
                <a:cs typeface="Calibri"/>
                <a:sym typeface="Calibri"/>
              </a:rPr>
              <a:t>0</a:t>
            </a:r>
            <a:r>
              <a:rPr b="1" lang="pl" sz="1800">
                <a:solidFill>
                  <a:srgbClr val="00C2A8"/>
                </a:solidFill>
                <a:latin typeface="Calibri"/>
                <a:ea typeface="Calibri"/>
                <a:cs typeface="Calibri"/>
                <a:sym typeface="Calibri"/>
              </a:rPr>
              <a:t>9</a:t>
            </a:r>
            <a:endParaRPr b="0" i="0" sz="1800" u="none" cap="none" strike="noStrike">
              <a:solidFill>
                <a:schemeClr val="dk1"/>
              </a:solidFill>
              <a:latin typeface="Calibri"/>
              <a:ea typeface="Calibri"/>
              <a:cs typeface="Calibri"/>
              <a:sym typeface="Calibri"/>
            </a:endParaRPr>
          </a:p>
        </p:txBody>
      </p:sp>
      <p:sp>
        <p:nvSpPr>
          <p:cNvPr id="571" name="Google Shape;571;p24"/>
          <p:cNvSpPr/>
          <p:nvPr/>
        </p:nvSpPr>
        <p:spPr>
          <a:xfrm>
            <a:off x="365700" y="3074600"/>
            <a:ext cx="4206300" cy="1186500"/>
          </a:xfrm>
          <a:prstGeom prst="rect">
            <a:avLst/>
          </a:prstGeom>
          <a:solidFill>
            <a:srgbClr val="3CD70A">
              <a:alpha val="17680"/>
            </a:srgbClr>
          </a:solidFill>
          <a:ln cap="flat" cmpd="sng" w="12700">
            <a:solidFill>
              <a:srgbClr val="3CD70A">
                <a:alpha val="40000"/>
              </a:srgbClr>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pl" sz="1800">
                <a:solidFill>
                  <a:schemeClr val="accent6"/>
                </a:solidFill>
              </a:rPr>
              <a:t>Strategia A : 10 x 10000 (uśrednione)</a:t>
            </a:r>
            <a:endParaRPr b="1" sz="1800">
              <a:solidFill>
                <a:schemeClr val="accent6"/>
              </a:solidFill>
            </a:endParaRPr>
          </a:p>
          <a:p>
            <a:pPr indent="0" lvl="0" marL="0" rtl="0" algn="ctr">
              <a:spcBef>
                <a:spcPts val="0"/>
              </a:spcBef>
              <a:spcAft>
                <a:spcPts val="0"/>
              </a:spcAft>
              <a:buNone/>
            </a:pPr>
            <a:r>
              <a:rPr lang="pl">
                <a:solidFill>
                  <a:schemeClr val="lt1"/>
                </a:solidFill>
              </a:rPr>
              <a:t>Wynik: 2.49856</a:t>
            </a:r>
            <a:endParaRPr>
              <a:solidFill>
                <a:schemeClr val="lt1"/>
              </a:solidFill>
            </a:endParaRPr>
          </a:p>
          <a:p>
            <a:pPr indent="0" lvl="0" marL="0" rtl="0" algn="ctr">
              <a:spcBef>
                <a:spcPts val="0"/>
              </a:spcBef>
              <a:spcAft>
                <a:spcPts val="0"/>
              </a:spcAft>
              <a:buNone/>
            </a:pPr>
            <a:r>
              <a:rPr lang="pl">
                <a:solidFill>
                  <a:schemeClr val="lt1"/>
                </a:solidFill>
              </a:rPr>
              <a:t>Błąd bezwzględny: 0.051604</a:t>
            </a:r>
            <a:endParaRPr>
              <a:solidFill>
                <a:schemeClr val="lt1"/>
              </a:solidFill>
            </a:endParaRPr>
          </a:p>
          <a:p>
            <a:pPr indent="0" lvl="0" marL="0" rtl="0" algn="ctr">
              <a:spcBef>
                <a:spcPts val="0"/>
              </a:spcBef>
              <a:spcAft>
                <a:spcPts val="0"/>
              </a:spcAft>
              <a:buNone/>
            </a:pPr>
            <a:r>
              <a:rPr lang="pl">
                <a:solidFill>
                  <a:schemeClr val="lt1"/>
                </a:solidFill>
              </a:rPr>
              <a:t>Błąd procentowy: 2.0235577%</a:t>
            </a:r>
            <a:endParaRPr>
              <a:solidFill>
                <a:schemeClr val="lt1"/>
              </a:solidFill>
            </a:endParaRPr>
          </a:p>
        </p:txBody>
      </p:sp>
      <p:sp>
        <p:nvSpPr>
          <p:cNvPr id="572" name="Google Shape;572;p24"/>
          <p:cNvSpPr/>
          <p:nvPr/>
        </p:nvSpPr>
        <p:spPr>
          <a:xfrm>
            <a:off x="4654200" y="3074597"/>
            <a:ext cx="63900" cy="11865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4"/>
          <p:cNvSpPr/>
          <p:nvPr/>
        </p:nvSpPr>
        <p:spPr>
          <a:xfrm>
            <a:off x="4669700" y="3074600"/>
            <a:ext cx="4108500" cy="1186500"/>
          </a:xfrm>
          <a:prstGeom prst="rect">
            <a:avLst/>
          </a:prstGeom>
          <a:solidFill>
            <a:srgbClr val="3CD70A">
              <a:alpha val="17680"/>
            </a:srgbClr>
          </a:solidFill>
          <a:ln cap="flat" cmpd="sng" w="12700">
            <a:solidFill>
              <a:srgbClr val="3CD70A">
                <a:alpha val="45100"/>
              </a:srgbClr>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pl" sz="1800">
                <a:solidFill>
                  <a:schemeClr val="accent6"/>
                </a:solidFill>
              </a:rPr>
              <a:t>Strategia B : 1 x 100000</a:t>
            </a:r>
            <a:endParaRPr b="1" sz="1800">
              <a:solidFill>
                <a:schemeClr val="accent6"/>
              </a:solidFill>
            </a:endParaRPr>
          </a:p>
          <a:p>
            <a:pPr indent="0" lvl="0" marL="0" rtl="0" algn="ctr">
              <a:spcBef>
                <a:spcPts val="0"/>
              </a:spcBef>
              <a:spcAft>
                <a:spcPts val="0"/>
              </a:spcAft>
              <a:buNone/>
            </a:pPr>
            <a:r>
              <a:rPr lang="pl">
                <a:solidFill>
                  <a:schemeClr val="lt1"/>
                </a:solidFill>
              </a:rPr>
              <a:t>Wynik: </a:t>
            </a:r>
            <a:r>
              <a:rPr lang="pl">
                <a:solidFill>
                  <a:schemeClr val="lt1"/>
                </a:solidFill>
                <a:latin typeface="Calibri"/>
                <a:ea typeface="Calibri"/>
                <a:cs typeface="Calibri"/>
                <a:sym typeface="Calibri"/>
              </a:rPr>
              <a:t>2.48832</a:t>
            </a:r>
            <a:endParaRPr>
              <a:solidFill>
                <a:schemeClr val="lt1"/>
              </a:solidFill>
            </a:endParaRPr>
          </a:p>
          <a:p>
            <a:pPr indent="0" lvl="0" marL="0" rtl="0" algn="ctr">
              <a:spcBef>
                <a:spcPts val="0"/>
              </a:spcBef>
              <a:spcAft>
                <a:spcPts val="0"/>
              </a:spcAft>
              <a:buNone/>
            </a:pPr>
            <a:r>
              <a:rPr lang="pl">
                <a:solidFill>
                  <a:schemeClr val="lt1"/>
                </a:solidFill>
              </a:rPr>
              <a:t>Błąd bezwzględny: 0.061844</a:t>
            </a:r>
            <a:endParaRPr>
              <a:solidFill>
                <a:schemeClr val="lt1"/>
              </a:solidFill>
            </a:endParaRPr>
          </a:p>
          <a:p>
            <a:pPr indent="0" lvl="0" marL="0" rtl="0" algn="ctr">
              <a:spcBef>
                <a:spcPts val="0"/>
              </a:spcBef>
              <a:spcAft>
                <a:spcPts val="0"/>
              </a:spcAft>
              <a:buNone/>
            </a:pPr>
            <a:r>
              <a:rPr lang="pl">
                <a:solidFill>
                  <a:schemeClr val="lt1"/>
                </a:solidFill>
              </a:rPr>
              <a:t>    Błąd procentowy:  2.4250989%</a:t>
            </a:r>
            <a:endParaRPr>
              <a:solidFill>
                <a:schemeClr val="lt1"/>
              </a:solidFill>
            </a:endParaRPr>
          </a:p>
          <a:p>
            <a:pPr indent="0" lvl="0" marL="0" rtl="0" algn="ctr">
              <a:spcBef>
                <a:spcPts val="0"/>
              </a:spcBef>
              <a:spcAft>
                <a:spcPts val="0"/>
              </a:spcAft>
              <a:buNone/>
            </a:pPr>
            <a:r>
              <a:t/>
            </a:r>
            <a:endParaRPr sz="1800"/>
          </a:p>
          <a:p>
            <a:pPr indent="0" lvl="0" marL="0" rtl="0" algn="ctr">
              <a:spcBef>
                <a:spcPts val="0"/>
              </a:spcBef>
              <a:spcAft>
                <a:spcPts val="0"/>
              </a:spcAft>
              <a:buNone/>
            </a:pPr>
            <a:r>
              <a:t/>
            </a:r>
            <a:endParaRPr sz="1000"/>
          </a:p>
        </p:txBody>
      </p:sp>
      <p:sp>
        <p:nvSpPr>
          <p:cNvPr id="574" name="Google Shape;574;p24"/>
          <p:cNvSpPr/>
          <p:nvPr/>
        </p:nvSpPr>
        <p:spPr>
          <a:xfrm>
            <a:off x="0" y="4754880"/>
            <a:ext cx="9144000" cy="3885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4"/>
          <p:cNvSpPr/>
          <p:nvPr/>
        </p:nvSpPr>
        <p:spPr>
          <a:xfrm>
            <a:off x="365700" y="851000"/>
            <a:ext cx="8412600" cy="2117100"/>
          </a:xfrm>
          <a:prstGeom prst="rect">
            <a:avLst/>
          </a:prstGeom>
          <a:solidFill>
            <a:srgbClr val="1A2E4A">
              <a:alpha val="80000"/>
            </a:srgbClr>
          </a:solidFill>
          <a:ln cap="flat" cmpd="sng" w="12700">
            <a:solidFill>
              <a:srgbClr val="7B5EA7">
                <a:alpha val="45100"/>
              </a:srgbClr>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pl" sz="1200">
                <a:solidFill>
                  <a:schemeClr val="lt1"/>
                </a:solidFill>
              </a:rPr>
              <a:t>Aby zweryfikować, czy obie strategie rzeczywiście prowadzą do podobnych rezultatów, wykonano dodatkowy eksperyment porównawczy. Zamiast analizować układ 10×1000 oraz 1×10000, zwiększono liczbę losowań dziesięciokrotnie i porównano strategie:</a:t>
            </a:r>
            <a:endParaRPr sz="1200">
              <a:solidFill>
                <a:schemeClr val="lt1"/>
              </a:solidFill>
            </a:endParaRPr>
          </a:p>
          <a:p>
            <a:pPr indent="-298450" lvl="0" marL="457200" rtl="0" algn="l">
              <a:lnSpc>
                <a:spcPct val="115000"/>
              </a:lnSpc>
              <a:spcBef>
                <a:spcPts val="1200"/>
              </a:spcBef>
              <a:spcAft>
                <a:spcPts val="0"/>
              </a:spcAft>
              <a:buClr>
                <a:schemeClr val="lt1"/>
              </a:buClr>
              <a:buSzPts val="1100"/>
              <a:buChar char="●"/>
            </a:pPr>
            <a:r>
              <a:rPr lang="pl" sz="1200">
                <a:solidFill>
                  <a:schemeClr val="lt1"/>
                </a:solidFill>
              </a:rPr>
              <a:t>10×10000 prób (wyniki uśrednione),</a:t>
            </a:r>
            <a:endParaRPr sz="1200">
              <a:solidFill>
                <a:schemeClr val="lt1"/>
              </a:solidFill>
            </a:endParaRPr>
          </a:p>
          <a:p>
            <a:pPr indent="-298450" lvl="0" marL="457200" rtl="0" algn="l">
              <a:lnSpc>
                <a:spcPct val="115000"/>
              </a:lnSpc>
              <a:spcBef>
                <a:spcPts val="0"/>
              </a:spcBef>
              <a:spcAft>
                <a:spcPts val="0"/>
              </a:spcAft>
              <a:buClr>
                <a:schemeClr val="lt1"/>
              </a:buClr>
              <a:buSzPts val="1100"/>
              <a:buChar char="●"/>
            </a:pPr>
            <a:r>
              <a:rPr lang="pl" sz="1200">
                <a:solidFill>
                  <a:schemeClr val="lt1"/>
                </a:solidFill>
              </a:rPr>
              <a:t>1×100000 prób.</a:t>
            </a:r>
            <a:endParaRPr sz="1200">
              <a:solidFill>
                <a:schemeClr val="lt1"/>
              </a:solidFill>
            </a:endParaRPr>
          </a:p>
          <a:p>
            <a:pPr indent="0" lvl="0" marL="0" rtl="0" algn="l">
              <a:lnSpc>
                <a:spcPct val="115000"/>
              </a:lnSpc>
              <a:spcBef>
                <a:spcPts val="1200"/>
              </a:spcBef>
              <a:spcAft>
                <a:spcPts val="0"/>
              </a:spcAft>
              <a:buNone/>
            </a:pPr>
            <a:r>
              <a:rPr lang="pl" sz="1200">
                <a:solidFill>
                  <a:schemeClr val="lt1"/>
                </a:solidFill>
              </a:rPr>
              <a:t>Celem tego eksperymentu było sprawdzenie, czy przy dużej liczbie punktów obie metody zbliżają się do tej samej wartości objętości kuli. Otrzymane wyniki potwierdziły, że różnice pomiędzy strategiami stają się bardzo małe, co jest zgodne z teorią metody Monte Carlo. </a:t>
            </a:r>
            <a:endParaRPr sz="1200">
              <a:solidFill>
                <a:schemeClr val="lt1"/>
              </a:solidFill>
            </a:endParaRPr>
          </a:p>
          <a:p>
            <a:pPr indent="0" lvl="0" marL="0" rtl="0" algn="ctr">
              <a:spcBef>
                <a:spcPts val="1200"/>
              </a:spcBef>
              <a:spcAft>
                <a:spcPts val="0"/>
              </a:spcAft>
              <a:buNone/>
            </a:pPr>
            <a:r>
              <a:t/>
            </a:r>
            <a:endParaRPr sz="1200">
              <a:solidFill>
                <a:schemeClr val="lt1"/>
              </a:solidFill>
            </a:endParaRPr>
          </a:p>
        </p:txBody>
      </p:sp>
      <p:sp>
        <p:nvSpPr>
          <p:cNvPr id="576" name="Google Shape;576;p24"/>
          <p:cNvSpPr/>
          <p:nvPr/>
        </p:nvSpPr>
        <p:spPr>
          <a:xfrm>
            <a:off x="320150" y="851000"/>
            <a:ext cx="63900" cy="2117100"/>
          </a:xfrm>
          <a:prstGeom prst="rect">
            <a:avLst/>
          </a:prstGeom>
          <a:solidFill>
            <a:srgbClr val="7B5EA7">
              <a:alpha val="70200"/>
            </a:srgbClr>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4"/>
          <p:cNvSpPr/>
          <p:nvPr/>
        </p:nvSpPr>
        <p:spPr>
          <a:xfrm>
            <a:off x="320150" y="3074597"/>
            <a:ext cx="63900" cy="1186500"/>
          </a:xfrm>
          <a:prstGeom prst="rect">
            <a:avLst/>
          </a:prstGeom>
          <a:solidFill>
            <a:srgbClr val="00C2A8">
              <a:alpha val="70200"/>
            </a:srgbClr>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4"/>
          <p:cNvSpPr/>
          <p:nvPr/>
        </p:nvSpPr>
        <p:spPr>
          <a:xfrm>
            <a:off x="4572000" y="4754880"/>
            <a:ext cx="4206300" cy="384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6AD"/>
              </a:buClr>
              <a:buSzPts val="1000"/>
              <a:buFont typeface="Calibri"/>
              <a:buNone/>
            </a:pPr>
            <a:r>
              <a:rPr b="0" i="0" lang="pl" sz="1000" u="none" cap="none" strike="noStrike">
                <a:solidFill>
                  <a:srgbClr val="8A96AD"/>
                </a:solidFill>
                <a:latin typeface="Calibri"/>
                <a:ea typeface="Calibri"/>
                <a:cs typeface="Calibri"/>
                <a:sym typeface="Calibri"/>
              </a:rPr>
              <a:t>[ </a:t>
            </a:r>
            <a:r>
              <a:rPr lang="pl" sz="1000">
                <a:solidFill>
                  <a:srgbClr val="8A96AD"/>
                </a:solidFill>
                <a:latin typeface="Calibri"/>
                <a:ea typeface="Calibri"/>
                <a:cs typeface="Calibri"/>
                <a:sym typeface="Calibri"/>
              </a:rPr>
              <a:t>16.05.2026</a:t>
            </a:r>
            <a:r>
              <a:rPr b="0" i="0" lang="pl" sz="1000" u="none" cap="none" strike="noStrike">
                <a:solidFill>
                  <a:srgbClr val="8A96AD"/>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579" name="Google Shape;579;p24"/>
          <p:cNvSpPr/>
          <p:nvPr/>
        </p:nvSpPr>
        <p:spPr>
          <a:xfrm>
            <a:off x="365760" y="4754880"/>
            <a:ext cx="457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000"/>
              <a:buFont typeface="Calibri"/>
              <a:buNone/>
            </a:pPr>
            <a:r>
              <a:rPr lang="pl" sz="1000">
                <a:solidFill>
                  <a:srgbClr val="8A96AD"/>
                </a:solidFill>
                <a:latin typeface="Calibri"/>
                <a:ea typeface="Calibri"/>
                <a:cs typeface="Calibri"/>
                <a:sym typeface="Calibri"/>
              </a:rPr>
              <a:t>Objętość kuli k-wymiarowej 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30"/>
        </a:solidFill>
      </p:bgPr>
    </p:bg>
    <p:spTree>
      <p:nvGrpSpPr>
        <p:cNvPr id="584" name="Shape 584"/>
        <p:cNvGrpSpPr/>
        <p:nvPr/>
      </p:nvGrpSpPr>
      <p:grpSpPr>
        <a:xfrm>
          <a:off x="0" y="0"/>
          <a:ext cx="0" cy="0"/>
          <a:chOff x="0" y="0"/>
          <a:chExt cx="0" cy="0"/>
        </a:xfrm>
      </p:grpSpPr>
      <p:sp>
        <p:nvSpPr>
          <p:cNvPr id="585" name="Google Shape;585;p25"/>
          <p:cNvSpPr/>
          <p:nvPr/>
        </p:nvSpPr>
        <p:spPr>
          <a:xfrm>
            <a:off x="7406640" y="-1554480"/>
            <a:ext cx="2560200" cy="2560200"/>
          </a:xfrm>
          <a:prstGeom prst="ellipse">
            <a:avLst/>
          </a:prstGeom>
          <a:solidFill>
            <a:srgbClr val="00C2A8">
              <a:alpha val="20000"/>
            </a:srgbClr>
          </a:solidFill>
          <a:ln cap="flat" cmpd="sng" w="19050">
            <a:solidFill>
              <a:srgbClr val="00C2A8">
                <a:alpha val="1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5"/>
          <p:cNvSpPr/>
          <p:nvPr/>
        </p:nvSpPr>
        <p:spPr>
          <a:xfrm>
            <a:off x="7680960" y="731520"/>
            <a:ext cx="1280100" cy="1280100"/>
          </a:xfrm>
          <a:prstGeom prst="ellipse">
            <a:avLst/>
          </a:prstGeom>
          <a:solidFill>
            <a:srgbClr val="7B5EA7">
              <a:alpha val="25099"/>
            </a:srgbClr>
          </a:solidFill>
          <a:ln cap="flat" cmpd="sng" w="19050">
            <a:solidFill>
              <a:srgbClr val="7B5EA7">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5"/>
          <p:cNvSpPr/>
          <p:nvPr/>
        </p:nvSpPr>
        <p:spPr>
          <a:xfrm>
            <a:off x="228600"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5"/>
          <p:cNvSpPr/>
          <p:nvPr/>
        </p:nvSpPr>
        <p:spPr>
          <a:xfrm>
            <a:off x="576072"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5"/>
          <p:cNvSpPr/>
          <p:nvPr/>
        </p:nvSpPr>
        <p:spPr>
          <a:xfrm>
            <a:off x="923544"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5"/>
          <p:cNvSpPr/>
          <p:nvPr/>
        </p:nvSpPr>
        <p:spPr>
          <a:xfrm>
            <a:off x="1271016"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5"/>
          <p:cNvSpPr/>
          <p:nvPr/>
        </p:nvSpPr>
        <p:spPr>
          <a:xfrm>
            <a:off x="1618488"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5"/>
          <p:cNvSpPr/>
          <p:nvPr/>
        </p:nvSpPr>
        <p:spPr>
          <a:xfrm>
            <a:off x="228600"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5"/>
          <p:cNvSpPr/>
          <p:nvPr/>
        </p:nvSpPr>
        <p:spPr>
          <a:xfrm>
            <a:off x="576072"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5"/>
          <p:cNvSpPr/>
          <p:nvPr/>
        </p:nvSpPr>
        <p:spPr>
          <a:xfrm>
            <a:off x="923544"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5"/>
          <p:cNvSpPr/>
          <p:nvPr/>
        </p:nvSpPr>
        <p:spPr>
          <a:xfrm>
            <a:off x="1271016"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5"/>
          <p:cNvSpPr/>
          <p:nvPr/>
        </p:nvSpPr>
        <p:spPr>
          <a:xfrm>
            <a:off x="1618488"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5"/>
          <p:cNvSpPr/>
          <p:nvPr/>
        </p:nvSpPr>
        <p:spPr>
          <a:xfrm>
            <a:off x="228600"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5"/>
          <p:cNvSpPr/>
          <p:nvPr/>
        </p:nvSpPr>
        <p:spPr>
          <a:xfrm>
            <a:off x="576072"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5"/>
          <p:cNvSpPr/>
          <p:nvPr/>
        </p:nvSpPr>
        <p:spPr>
          <a:xfrm>
            <a:off x="923544"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5"/>
          <p:cNvSpPr/>
          <p:nvPr/>
        </p:nvSpPr>
        <p:spPr>
          <a:xfrm>
            <a:off x="1271016"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5"/>
          <p:cNvSpPr/>
          <p:nvPr/>
        </p:nvSpPr>
        <p:spPr>
          <a:xfrm>
            <a:off x="1618488"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5"/>
          <p:cNvSpPr/>
          <p:nvPr/>
        </p:nvSpPr>
        <p:spPr>
          <a:xfrm>
            <a:off x="228600"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5"/>
          <p:cNvSpPr/>
          <p:nvPr/>
        </p:nvSpPr>
        <p:spPr>
          <a:xfrm>
            <a:off x="576072"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5"/>
          <p:cNvSpPr/>
          <p:nvPr/>
        </p:nvSpPr>
        <p:spPr>
          <a:xfrm>
            <a:off x="923544"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5"/>
          <p:cNvSpPr/>
          <p:nvPr/>
        </p:nvSpPr>
        <p:spPr>
          <a:xfrm>
            <a:off x="1271016"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5"/>
          <p:cNvSpPr/>
          <p:nvPr/>
        </p:nvSpPr>
        <p:spPr>
          <a:xfrm>
            <a:off x="1618488"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5"/>
          <p:cNvSpPr/>
          <p:nvPr/>
        </p:nvSpPr>
        <p:spPr>
          <a:xfrm>
            <a:off x="228600"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5"/>
          <p:cNvSpPr/>
          <p:nvPr/>
        </p:nvSpPr>
        <p:spPr>
          <a:xfrm>
            <a:off x="576072"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5"/>
          <p:cNvSpPr/>
          <p:nvPr/>
        </p:nvSpPr>
        <p:spPr>
          <a:xfrm>
            <a:off x="923544"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5"/>
          <p:cNvSpPr/>
          <p:nvPr/>
        </p:nvSpPr>
        <p:spPr>
          <a:xfrm>
            <a:off x="1271016"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5"/>
          <p:cNvSpPr/>
          <p:nvPr/>
        </p:nvSpPr>
        <p:spPr>
          <a:xfrm>
            <a:off x="1618488"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5"/>
          <p:cNvSpPr/>
          <p:nvPr/>
        </p:nvSpPr>
        <p:spPr>
          <a:xfrm>
            <a:off x="0" y="0"/>
            <a:ext cx="9144000" cy="7773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5"/>
          <p:cNvSpPr/>
          <p:nvPr/>
        </p:nvSpPr>
        <p:spPr>
          <a:xfrm>
            <a:off x="0" y="0"/>
            <a:ext cx="164700" cy="7773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5"/>
          <p:cNvSpPr/>
          <p:nvPr/>
        </p:nvSpPr>
        <p:spPr>
          <a:xfrm>
            <a:off x="8321040" y="0"/>
            <a:ext cx="731400" cy="777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C2A8"/>
              </a:buClr>
              <a:buSzPts val="1800"/>
              <a:buFont typeface="Calibri"/>
              <a:buNone/>
            </a:pPr>
            <a:r>
              <a:rPr b="1" lang="pl" sz="1800">
                <a:solidFill>
                  <a:srgbClr val="00C2A8"/>
                </a:solidFill>
                <a:latin typeface="Calibri"/>
                <a:ea typeface="Calibri"/>
                <a:cs typeface="Calibri"/>
                <a:sym typeface="Calibri"/>
              </a:rPr>
              <a:t>10</a:t>
            </a:r>
            <a:endParaRPr b="0" i="0" sz="1800" u="none" cap="none" strike="noStrike">
              <a:solidFill>
                <a:schemeClr val="dk1"/>
              </a:solidFill>
              <a:latin typeface="Calibri"/>
              <a:ea typeface="Calibri"/>
              <a:cs typeface="Calibri"/>
              <a:sym typeface="Calibri"/>
            </a:endParaRPr>
          </a:p>
        </p:txBody>
      </p:sp>
      <p:sp>
        <p:nvSpPr>
          <p:cNvPr id="615" name="Google Shape;615;p25"/>
          <p:cNvSpPr/>
          <p:nvPr/>
        </p:nvSpPr>
        <p:spPr>
          <a:xfrm>
            <a:off x="0" y="4754880"/>
            <a:ext cx="9144000" cy="3885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5"/>
          <p:cNvSpPr/>
          <p:nvPr/>
        </p:nvSpPr>
        <p:spPr>
          <a:xfrm>
            <a:off x="177350" y="784625"/>
            <a:ext cx="4101900" cy="3962400"/>
          </a:xfrm>
          <a:prstGeom prst="rect">
            <a:avLst/>
          </a:prstGeom>
          <a:solidFill>
            <a:srgbClr val="1A2E4A">
              <a:alpha val="80000"/>
            </a:srgbClr>
          </a:solidFill>
          <a:ln cap="flat" cmpd="sng" w="12700">
            <a:solidFill>
              <a:srgbClr val="7B5EA7">
                <a:alpha val="451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5"/>
          <p:cNvSpPr/>
          <p:nvPr/>
        </p:nvSpPr>
        <p:spPr>
          <a:xfrm>
            <a:off x="4686650" y="792475"/>
            <a:ext cx="4101900" cy="2106600"/>
          </a:xfrm>
          <a:prstGeom prst="rect">
            <a:avLst/>
          </a:prstGeom>
          <a:solidFill>
            <a:srgbClr val="E67F43">
              <a:alpha val="13500"/>
            </a:srgbClr>
          </a:solidFill>
          <a:ln cap="flat" cmpd="sng" w="12700">
            <a:solidFill>
              <a:srgbClr val="E67F43">
                <a:alpha val="451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5"/>
          <p:cNvSpPr txBox="1"/>
          <p:nvPr/>
        </p:nvSpPr>
        <p:spPr>
          <a:xfrm>
            <a:off x="228600" y="784625"/>
            <a:ext cx="4050600" cy="65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pl" sz="1700">
                <a:solidFill>
                  <a:srgbClr val="7B5EA7"/>
                </a:solidFill>
              </a:rPr>
              <a:t>SciNotes :</a:t>
            </a:r>
            <a:endParaRPr i="1" sz="1700">
              <a:solidFill>
                <a:srgbClr val="7B5EA7"/>
              </a:solidFill>
              <a:highlight>
                <a:schemeClr val="lt1"/>
              </a:highlight>
            </a:endParaRPr>
          </a:p>
        </p:txBody>
      </p:sp>
      <p:sp>
        <p:nvSpPr>
          <p:cNvPr id="619" name="Google Shape;619;p25"/>
          <p:cNvSpPr txBox="1"/>
          <p:nvPr/>
        </p:nvSpPr>
        <p:spPr>
          <a:xfrm>
            <a:off x="4752650" y="784625"/>
            <a:ext cx="4025700" cy="65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pl" sz="1700">
                <a:solidFill>
                  <a:srgbClr val="7B5EA7"/>
                </a:solidFill>
              </a:rPr>
              <a:t>Scilab Console</a:t>
            </a:r>
            <a:endParaRPr sz="1700">
              <a:solidFill>
                <a:srgbClr val="7B5EA7"/>
              </a:solidFill>
              <a:highlight>
                <a:schemeClr val="lt1"/>
              </a:highlight>
            </a:endParaRPr>
          </a:p>
        </p:txBody>
      </p:sp>
      <p:sp>
        <p:nvSpPr>
          <p:cNvPr id="620" name="Google Shape;620;p25"/>
          <p:cNvSpPr/>
          <p:nvPr/>
        </p:nvSpPr>
        <p:spPr>
          <a:xfrm>
            <a:off x="4686650" y="784625"/>
            <a:ext cx="63900" cy="2106600"/>
          </a:xfrm>
          <a:prstGeom prst="rect">
            <a:avLst/>
          </a:prstGeom>
          <a:solidFill>
            <a:srgbClr val="E67F43"/>
          </a:solidFill>
          <a:ln cap="flat" cmpd="sng" w="12700">
            <a:solidFill>
              <a:srgbClr val="E5996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5"/>
          <p:cNvSpPr/>
          <p:nvPr/>
        </p:nvSpPr>
        <p:spPr>
          <a:xfrm>
            <a:off x="177350" y="784625"/>
            <a:ext cx="63900" cy="3962400"/>
          </a:xfrm>
          <a:prstGeom prst="rect">
            <a:avLst/>
          </a:prstGeom>
          <a:solidFill>
            <a:srgbClr val="7B5EA7">
              <a:alpha val="70200"/>
            </a:srgbClr>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5"/>
          <p:cNvSpPr/>
          <p:nvPr/>
        </p:nvSpPr>
        <p:spPr>
          <a:xfrm>
            <a:off x="283500" y="1170400"/>
            <a:ext cx="3943500" cy="3493200"/>
          </a:xfrm>
          <a:prstGeom prst="rect">
            <a:avLst/>
          </a:prstGeom>
          <a:solidFill>
            <a:srgbClr val="152035">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5"/>
          <p:cNvSpPr txBox="1"/>
          <p:nvPr/>
        </p:nvSpPr>
        <p:spPr>
          <a:xfrm>
            <a:off x="241250" y="1083788"/>
            <a:ext cx="3985800" cy="35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300">
                <a:solidFill>
                  <a:schemeClr val="lt1"/>
                </a:solidFill>
              </a:rPr>
              <a:t>disp("Strategia A: 10 × 1000 prób (uśrednione)");</a:t>
            </a:r>
            <a:endParaRPr sz="1300">
              <a:solidFill>
                <a:schemeClr val="lt1"/>
              </a:solidFill>
            </a:endParaRPr>
          </a:p>
          <a:p>
            <a:pPr indent="0" lvl="0" marL="0" rtl="0" algn="l">
              <a:spcBef>
                <a:spcPts val="0"/>
              </a:spcBef>
              <a:spcAft>
                <a:spcPts val="0"/>
              </a:spcAft>
              <a:buNone/>
            </a:pPr>
            <a:r>
              <a:rPr lang="pl" sz="1300">
                <a:solidFill>
                  <a:schemeClr val="lt1"/>
                </a:solidFill>
              </a:rPr>
              <a:t>disp("  Wynik: " + string(V_srednia) + "  |  Błąd: " + string(blad_srednia));</a:t>
            </a:r>
            <a:endParaRPr sz="1300">
              <a:solidFill>
                <a:schemeClr val="lt1"/>
              </a:solidFill>
            </a:endParaRPr>
          </a:p>
          <a:p>
            <a:pPr indent="0" lvl="0" marL="0" rtl="0" algn="l">
              <a:spcBef>
                <a:spcPts val="0"/>
              </a:spcBef>
              <a:spcAft>
                <a:spcPts val="0"/>
              </a:spcAft>
              <a:buNone/>
            </a:pPr>
            <a:r>
              <a:rPr lang="pl" sz="1300">
                <a:solidFill>
                  <a:schemeClr val="lt1"/>
                </a:solidFill>
              </a:rPr>
              <a:t>disp(" ");</a:t>
            </a:r>
            <a:endParaRPr sz="1300">
              <a:solidFill>
                <a:schemeClr val="lt1"/>
              </a:solidFill>
            </a:endParaRPr>
          </a:p>
          <a:p>
            <a:pPr indent="0" lvl="0" marL="0" rtl="0" algn="l">
              <a:spcBef>
                <a:spcPts val="0"/>
              </a:spcBef>
              <a:spcAft>
                <a:spcPts val="0"/>
              </a:spcAft>
              <a:buNone/>
            </a:pPr>
            <a:r>
              <a:rPr lang="pl" sz="1300">
                <a:solidFill>
                  <a:schemeClr val="lt1"/>
                </a:solidFill>
              </a:rPr>
              <a:t>disp("Strategia B: 1 × 10000 prób");</a:t>
            </a:r>
            <a:endParaRPr sz="1300">
              <a:solidFill>
                <a:schemeClr val="lt1"/>
              </a:solidFill>
            </a:endParaRPr>
          </a:p>
          <a:p>
            <a:pPr indent="0" lvl="0" marL="0" rtl="0" algn="l">
              <a:spcBef>
                <a:spcPts val="0"/>
              </a:spcBef>
              <a:spcAft>
                <a:spcPts val="0"/>
              </a:spcAft>
              <a:buNone/>
            </a:pPr>
            <a:r>
              <a:rPr lang="pl" sz="1300">
                <a:solidFill>
                  <a:schemeClr val="lt1"/>
                </a:solidFill>
              </a:rPr>
              <a:t>disp("  Wynik: " + string(V_mc_10000) + "  |  Błąd: " + string(blad_10000));</a:t>
            </a:r>
            <a:endParaRPr sz="1300">
              <a:solidFill>
                <a:schemeClr val="lt1"/>
              </a:solidFill>
            </a:endParaRPr>
          </a:p>
          <a:p>
            <a:pPr indent="0" lvl="0" marL="0" rtl="0" algn="l">
              <a:spcBef>
                <a:spcPts val="0"/>
              </a:spcBef>
              <a:spcAft>
                <a:spcPts val="0"/>
              </a:spcAft>
              <a:buNone/>
            </a:pPr>
            <a:r>
              <a:rPr lang="pl" sz="1300">
                <a:solidFill>
                  <a:schemeClr val="lt1"/>
                </a:solidFill>
              </a:rPr>
              <a:t>disp(" ");</a:t>
            </a:r>
            <a:endParaRPr sz="1300">
              <a:solidFill>
                <a:schemeClr val="lt1"/>
              </a:solidFill>
            </a:endParaRPr>
          </a:p>
          <a:p>
            <a:pPr indent="0" lvl="0" marL="0" rtl="0" algn="l">
              <a:spcBef>
                <a:spcPts val="0"/>
              </a:spcBef>
              <a:spcAft>
                <a:spcPts val="0"/>
              </a:spcAft>
              <a:buNone/>
            </a:pPr>
            <a:r>
              <a:t/>
            </a:r>
            <a:endParaRPr sz="1300">
              <a:solidFill>
                <a:schemeClr val="lt1"/>
              </a:solidFill>
            </a:endParaRPr>
          </a:p>
          <a:p>
            <a:pPr indent="0" lvl="0" marL="0" rtl="0" algn="l">
              <a:spcBef>
                <a:spcPts val="0"/>
              </a:spcBef>
              <a:spcAft>
                <a:spcPts val="0"/>
              </a:spcAft>
              <a:buNone/>
            </a:pPr>
            <a:r>
              <a:rPr lang="pl" sz="1300">
                <a:solidFill>
                  <a:schemeClr val="lt1"/>
                </a:solidFill>
              </a:rPr>
              <a:t>if blad_srednia &lt; blad_10000 then</a:t>
            </a:r>
            <a:endParaRPr sz="1300">
              <a:solidFill>
                <a:schemeClr val="lt1"/>
              </a:solidFill>
            </a:endParaRPr>
          </a:p>
          <a:p>
            <a:pPr indent="0" lvl="0" marL="0" rtl="0" algn="l">
              <a:spcBef>
                <a:spcPts val="0"/>
              </a:spcBef>
              <a:spcAft>
                <a:spcPts val="0"/>
              </a:spcAft>
              <a:buNone/>
            </a:pPr>
            <a:r>
              <a:rPr lang="pl" sz="1300">
                <a:solidFill>
                  <a:schemeClr val="lt1"/>
                </a:solidFill>
              </a:rPr>
              <a:t>    disp("&gt;&gt;&gt; LEPSZA: Strategia A (10 × 1000) — uśrednianie zmniejsza losowe wahania");</a:t>
            </a:r>
            <a:endParaRPr sz="1300">
              <a:solidFill>
                <a:schemeClr val="lt1"/>
              </a:solidFill>
            </a:endParaRPr>
          </a:p>
          <a:p>
            <a:pPr indent="0" lvl="0" marL="0" rtl="0" algn="l">
              <a:spcBef>
                <a:spcPts val="0"/>
              </a:spcBef>
              <a:spcAft>
                <a:spcPts val="0"/>
              </a:spcAft>
              <a:buNone/>
            </a:pPr>
            <a:r>
              <a:rPr lang="pl" sz="1300">
                <a:solidFill>
                  <a:schemeClr val="lt1"/>
                </a:solidFill>
              </a:rPr>
              <a:t>else</a:t>
            </a:r>
            <a:endParaRPr sz="1300">
              <a:solidFill>
                <a:schemeClr val="lt1"/>
              </a:solidFill>
            </a:endParaRPr>
          </a:p>
          <a:p>
            <a:pPr indent="0" lvl="0" marL="0" rtl="0" algn="l">
              <a:spcBef>
                <a:spcPts val="0"/>
              </a:spcBef>
              <a:spcAft>
                <a:spcPts val="0"/>
              </a:spcAft>
              <a:buNone/>
            </a:pPr>
            <a:r>
              <a:rPr lang="pl" sz="1300">
                <a:solidFill>
                  <a:schemeClr val="lt1"/>
                </a:solidFill>
              </a:rPr>
              <a:t>    disp("&gt;&gt;&gt; LEPSZA: Strategia B (1 × 10000) — większa próba daje mniejszy błąd");</a:t>
            </a:r>
            <a:endParaRPr sz="1300">
              <a:solidFill>
                <a:schemeClr val="lt1"/>
              </a:solidFill>
            </a:endParaRPr>
          </a:p>
          <a:p>
            <a:pPr indent="0" lvl="0" marL="0" rtl="0" algn="l">
              <a:spcBef>
                <a:spcPts val="0"/>
              </a:spcBef>
              <a:spcAft>
                <a:spcPts val="0"/>
              </a:spcAft>
              <a:buClr>
                <a:schemeClr val="dk1"/>
              </a:buClr>
              <a:buSzPts val="1100"/>
              <a:buFont typeface="Arial"/>
              <a:buNone/>
            </a:pPr>
            <a:r>
              <a:rPr lang="pl" sz="1300">
                <a:solidFill>
                  <a:schemeClr val="lt1"/>
                </a:solidFill>
              </a:rPr>
              <a:t>end</a:t>
            </a:r>
            <a:endParaRPr sz="1300">
              <a:solidFill>
                <a:schemeClr val="lt1"/>
              </a:solidFill>
            </a:endParaRPr>
          </a:p>
          <a:p>
            <a:pPr indent="0" lvl="0" marL="0" rtl="0" algn="l">
              <a:spcBef>
                <a:spcPts val="0"/>
              </a:spcBef>
              <a:spcAft>
                <a:spcPts val="0"/>
              </a:spcAft>
              <a:buNone/>
            </a:pPr>
            <a:r>
              <a:t/>
            </a:r>
            <a:endParaRPr sz="800">
              <a:solidFill>
                <a:schemeClr val="lt1"/>
              </a:solidFill>
            </a:endParaRPr>
          </a:p>
        </p:txBody>
      </p:sp>
      <p:sp>
        <p:nvSpPr>
          <p:cNvPr id="624" name="Google Shape;624;p25"/>
          <p:cNvSpPr/>
          <p:nvPr/>
        </p:nvSpPr>
        <p:spPr>
          <a:xfrm>
            <a:off x="4826150" y="1170400"/>
            <a:ext cx="3913200" cy="1616400"/>
          </a:xfrm>
          <a:prstGeom prst="rect">
            <a:avLst/>
          </a:prstGeom>
          <a:solidFill>
            <a:srgbClr val="152035">
              <a:alpha val="8000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150">
                <a:solidFill>
                  <a:schemeClr val="lt1"/>
                </a:solidFill>
              </a:rPr>
              <a:t>"Strategia A: 10 × 1000 prób (uśrednione)"</a:t>
            </a:r>
            <a:endParaRPr sz="1150">
              <a:solidFill>
                <a:schemeClr val="lt1"/>
              </a:solidFill>
            </a:endParaRPr>
          </a:p>
          <a:p>
            <a:pPr indent="0" lvl="0" marL="0" rtl="0" algn="l">
              <a:spcBef>
                <a:spcPts val="0"/>
              </a:spcBef>
              <a:spcAft>
                <a:spcPts val="0"/>
              </a:spcAft>
              <a:buNone/>
            </a:pPr>
            <a:r>
              <a:rPr lang="pl" sz="1150">
                <a:solidFill>
                  <a:schemeClr val="lt1"/>
                </a:solidFill>
              </a:rPr>
              <a:t>  "  Wynik: 2.49856  |  Błąd: 0.051604"</a:t>
            </a:r>
            <a:endParaRPr sz="1150">
              <a:solidFill>
                <a:schemeClr val="lt1"/>
              </a:solidFill>
            </a:endParaRPr>
          </a:p>
          <a:p>
            <a:pPr indent="0" lvl="0" marL="0" rtl="0" algn="l">
              <a:spcBef>
                <a:spcPts val="0"/>
              </a:spcBef>
              <a:spcAft>
                <a:spcPts val="0"/>
              </a:spcAft>
              <a:buNone/>
            </a:pPr>
            <a:r>
              <a:rPr lang="pl" sz="1150">
                <a:solidFill>
                  <a:schemeClr val="lt1"/>
                </a:solidFill>
              </a:rPr>
              <a:t>  " "</a:t>
            </a:r>
            <a:endParaRPr sz="1150">
              <a:solidFill>
                <a:schemeClr val="lt1"/>
              </a:solidFill>
            </a:endParaRPr>
          </a:p>
          <a:p>
            <a:pPr indent="0" lvl="0" marL="0" rtl="0" algn="l">
              <a:spcBef>
                <a:spcPts val="0"/>
              </a:spcBef>
              <a:spcAft>
                <a:spcPts val="0"/>
              </a:spcAft>
              <a:buNone/>
            </a:pPr>
            <a:r>
              <a:rPr lang="pl" sz="1150">
                <a:solidFill>
                  <a:schemeClr val="lt1"/>
                </a:solidFill>
              </a:rPr>
              <a:t>  "Strategia B: 1 × 10000 prób"</a:t>
            </a:r>
            <a:endParaRPr sz="1150">
              <a:solidFill>
                <a:schemeClr val="lt1"/>
              </a:solidFill>
            </a:endParaRPr>
          </a:p>
          <a:p>
            <a:pPr indent="0" lvl="0" marL="0" rtl="0" algn="l">
              <a:spcBef>
                <a:spcPts val="0"/>
              </a:spcBef>
              <a:spcAft>
                <a:spcPts val="0"/>
              </a:spcAft>
              <a:buNone/>
            </a:pPr>
            <a:r>
              <a:rPr lang="pl" sz="1150">
                <a:solidFill>
                  <a:schemeClr val="lt1"/>
                </a:solidFill>
              </a:rPr>
              <a:t>  "  Wynik: 2.48832  |  Błąd: 0.061844"</a:t>
            </a:r>
            <a:endParaRPr sz="1150">
              <a:solidFill>
                <a:schemeClr val="lt1"/>
              </a:solidFill>
            </a:endParaRPr>
          </a:p>
          <a:p>
            <a:pPr indent="0" lvl="0" marL="0" rtl="0" algn="l">
              <a:spcBef>
                <a:spcPts val="0"/>
              </a:spcBef>
              <a:spcAft>
                <a:spcPts val="0"/>
              </a:spcAft>
              <a:buNone/>
            </a:pPr>
            <a:r>
              <a:rPr lang="pl" sz="1150">
                <a:solidFill>
                  <a:schemeClr val="lt1"/>
                </a:solidFill>
              </a:rPr>
              <a:t>  " "</a:t>
            </a:r>
            <a:endParaRPr sz="1150">
              <a:solidFill>
                <a:schemeClr val="lt1"/>
              </a:solidFill>
            </a:endParaRPr>
          </a:p>
          <a:p>
            <a:pPr indent="0" lvl="0" marL="0" rtl="0" algn="l">
              <a:spcBef>
                <a:spcPts val="0"/>
              </a:spcBef>
              <a:spcAft>
                <a:spcPts val="0"/>
              </a:spcAft>
              <a:buNone/>
            </a:pPr>
            <a:r>
              <a:rPr lang="pl" sz="1150">
                <a:solidFill>
                  <a:schemeClr val="lt1"/>
                </a:solidFill>
              </a:rPr>
              <a:t>  "&gt;&gt;&gt; LEPSZA: Strategia A (10 × 1000) — uśrednianie zmniejsza losowe wahania</a:t>
            </a:r>
            <a:r>
              <a:rPr lang="pl" sz="1150">
                <a:solidFill>
                  <a:srgbClr val="FFFFFF"/>
                </a:solidFill>
              </a:rPr>
              <a:t>"</a:t>
            </a:r>
            <a:r>
              <a:rPr lang="pl" sz="1100">
                <a:solidFill>
                  <a:schemeClr val="dk1"/>
                </a:solidFill>
              </a:rPr>
              <a:t> </a:t>
            </a:r>
            <a:endParaRPr sz="1150">
              <a:solidFill>
                <a:schemeClr val="lt1"/>
              </a:solidFill>
            </a:endParaRPr>
          </a:p>
          <a:p>
            <a:pPr indent="0" lvl="0" marL="0" rtl="0" algn="l">
              <a:spcBef>
                <a:spcPts val="0"/>
              </a:spcBef>
              <a:spcAft>
                <a:spcPts val="0"/>
              </a:spcAft>
              <a:buNone/>
            </a:pPr>
            <a:r>
              <a:t/>
            </a:r>
            <a:endParaRPr sz="1150">
              <a:solidFill>
                <a:schemeClr val="lt1"/>
              </a:solidFill>
            </a:endParaRPr>
          </a:p>
        </p:txBody>
      </p:sp>
      <p:sp>
        <p:nvSpPr>
          <p:cNvPr id="625" name="Google Shape;625;p25"/>
          <p:cNvSpPr/>
          <p:nvPr/>
        </p:nvSpPr>
        <p:spPr>
          <a:xfrm>
            <a:off x="384048" y="0"/>
            <a:ext cx="7772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lang="pl" sz="2200">
                <a:solidFill>
                  <a:schemeClr val="lt1"/>
                </a:solidFill>
                <a:latin typeface="Calibri"/>
                <a:ea typeface="Calibri"/>
                <a:cs typeface="Calibri"/>
                <a:sym typeface="Calibri"/>
              </a:rPr>
              <a:t>PORÓWNANIE STRATEGII (Kod)</a:t>
            </a:r>
            <a:r>
              <a:rPr lang="pl" sz="2700">
                <a:solidFill>
                  <a:schemeClr val="lt1"/>
                </a:solidFill>
                <a:latin typeface="Calibri"/>
                <a:ea typeface="Calibri"/>
                <a:cs typeface="Calibri"/>
                <a:sym typeface="Calibri"/>
              </a:rPr>
              <a:t> </a:t>
            </a:r>
            <a:r>
              <a:rPr lang="pl" sz="2200">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p:txBody>
      </p:sp>
      <p:sp>
        <p:nvSpPr>
          <p:cNvPr id="626" name="Google Shape;626;p25"/>
          <p:cNvSpPr/>
          <p:nvPr/>
        </p:nvSpPr>
        <p:spPr>
          <a:xfrm>
            <a:off x="4689650" y="3423600"/>
            <a:ext cx="4095900" cy="1073400"/>
          </a:xfrm>
          <a:prstGeom prst="rect">
            <a:avLst/>
          </a:prstGeom>
          <a:solidFill>
            <a:srgbClr val="152035">
              <a:alpha val="80000"/>
            </a:srgbClr>
          </a:solidFill>
          <a:ln cap="flat" cmpd="sng" w="12700">
            <a:solidFill>
              <a:srgbClr val="00C2A8">
                <a:alpha val="40000"/>
              </a:srgbClr>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pl">
                <a:solidFill>
                  <a:schemeClr val="lt1"/>
                </a:solidFill>
              </a:rPr>
              <a:t>Uwaga!</a:t>
            </a:r>
            <a:endParaRPr>
              <a:solidFill>
                <a:schemeClr val="lt1"/>
              </a:solidFill>
            </a:endParaRPr>
          </a:p>
          <a:p>
            <a:pPr indent="0" lvl="0" marL="0" rtl="0" algn="ctr">
              <a:spcBef>
                <a:spcPts val="0"/>
              </a:spcBef>
              <a:spcAft>
                <a:spcPts val="0"/>
              </a:spcAft>
              <a:buNone/>
            </a:pPr>
            <a:r>
              <a:rPr lang="pl">
                <a:solidFill>
                  <a:schemeClr val="lt1"/>
                </a:solidFill>
              </a:rPr>
              <a:t>Podany kod nie dotyczy wyników dla n1 = 1000 oraz n2 = 10000, lecz dodatkowe obliczenia związane z weryfikacją tezy.</a:t>
            </a:r>
            <a:endParaRPr>
              <a:solidFill>
                <a:schemeClr val="lt1"/>
              </a:solidFill>
            </a:endParaRPr>
          </a:p>
        </p:txBody>
      </p:sp>
      <p:sp>
        <p:nvSpPr>
          <p:cNvPr id="627" name="Google Shape;627;p25"/>
          <p:cNvSpPr/>
          <p:nvPr/>
        </p:nvSpPr>
        <p:spPr>
          <a:xfrm>
            <a:off x="4572000" y="4754880"/>
            <a:ext cx="4206300" cy="384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6AD"/>
              </a:buClr>
              <a:buSzPts val="1000"/>
              <a:buFont typeface="Calibri"/>
              <a:buNone/>
            </a:pPr>
            <a:r>
              <a:rPr b="0" i="0" lang="pl" sz="1000" u="none" cap="none" strike="noStrike">
                <a:solidFill>
                  <a:srgbClr val="8A96AD"/>
                </a:solidFill>
                <a:latin typeface="Calibri"/>
                <a:ea typeface="Calibri"/>
                <a:cs typeface="Calibri"/>
                <a:sym typeface="Calibri"/>
              </a:rPr>
              <a:t>[ </a:t>
            </a:r>
            <a:r>
              <a:rPr lang="pl" sz="1000">
                <a:solidFill>
                  <a:srgbClr val="8A96AD"/>
                </a:solidFill>
                <a:latin typeface="Calibri"/>
                <a:ea typeface="Calibri"/>
                <a:cs typeface="Calibri"/>
                <a:sym typeface="Calibri"/>
              </a:rPr>
              <a:t>16.05.2026</a:t>
            </a:r>
            <a:r>
              <a:rPr b="0" i="0" lang="pl" sz="1000" u="none" cap="none" strike="noStrike">
                <a:solidFill>
                  <a:srgbClr val="8A96AD"/>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628" name="Google Shape;628;p25"/>
          <p:cNvSpPr/>
          <p:nvPr/>
        </p:nvSpPr>
        <p:spPr>
          <a:xfrm>
            <a:off x="365760" y="4754880"/>
            <a:ext cx="457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000"/>
              <a:buFont typeface="Calibri"/>
              <a:buNone/>
            </a:pPr>
            <a:r>
              <a:rPr lang="pl" sz="1000">
                <a:solidFill>
                  <a:srgbClr val="8A96AD"/>
                </a:solidFill>
                <a:latin typeface="Calibri"/>
                <a:ea typeface="Calibri"/>
                <a:cs typeface="Calibri"/>
                <a:sym typeface="Calibri"/>
              </a:rPr>
              <a:t>Objętość kuli k-wymiarowej 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30"/>
        </a:solidFill>
      </p:bgPr>
    </p:bg>
    <p:spTree>
      <p:nvGrpSpPr>
        <p:cNvPr id="633" name="Shape 633"/>
        <p:cNvGrpSpPr/>
        <p:nvPr/>
      </p:nvGrpSpPr>
      <p:grpSpPr>
        <a:xfrm>
          <a:off x="0" y="0"/>
          <a:ext cx="0" cy="0"/>
          <a:chOff x="0" y="0"/>
          <a:chExt cx="0" cy="0"/>
        </a:xfrm>
      </p:grpSpPr>
      <p:sp>
        <p:nvSpPr>
          <p:cNvPr id="634" name="Google Shape;634;p26"/>
          <p:cNvSpPr/>
          <p:nvPr/>
        </p:nvSpPr>
        <p:spPr>
          <a:xfrm>
            <a:off x="7406640" y="-1554480"/>
            <a:ext cx="2560200" cy="2560200"/>
          </a:xfrm>
          <a:prstGeom prst="ellipse">
            <a:avLst/>
          </a:prstGeom>
          <a:solidFill>
            <a:srgbClr val="00C2A8">
              <a:alpha val="20000"/>
            </a:srgbClr>
          </a:solidFill>
          <a:ln cap="flat" cmpd="sng" w="19050">
            <a:solidFill>
              <a:srgbClr val="00C2A8">
                <a:alpha val="1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6"/>
          <p:cNvSpPr/>
          <p:nvPr/>
        </p:nvSpPr>
        <p:spPr>
          <a:xfrm>
            <a:off x="7680960" y="731520"/>
            <a:ext cx="1280100" cy="1280100"/>
          </a:xfrm>
          <a:prstGeom prst="ellipse">
            <a:avLst/>
          </a:prstGeom>
          <a:solidFill>
            <a:srgbClr val="7B5EA7">
              <a:alpha val="25099"/>
            </a:srgbClr>
          </a:solidFill>
          <a:ln cap="flat" cmpd="sng" w="19050">
            <a:solidFill>
              <a:srgbClr val="7B5EA7">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6"/>
          <p:cNvSpPr/>
          <p:nvPr/>
        </p:nvSpPr>
        <p:spPr>
          <a:xfrm>
            <a:off x="228600"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6"/>
          <p:cNvSpPr/>
          <p:nvPr/>
        </p:nvSpPr>
        <p:spPr>
          <a:xfrm>
            <a:off x="576072"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6"/>
          <p:cNvSpPr/>
          <p:nvPr/>
        </p:nvSpPr>
        <p:spPr>
          <a:xfrm>
            <a:off x="923544"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6"/>
          <p:cNvSpPr/>
          <p:nvPr/>
        </p:nvSpPr>
        <p:spPr>
          <a:xfrm>
            <a:off x="1271016"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6"/>
          <p:cNvSpPr/>
          <p:nvPr/>
        </p:nvSpPr>
        <p:spPr>
          <a:xfrm>
            <a:off x="1618488"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6"/>
          <p:cNvSpPr/>
          <p:nvPr/>
        </p:nvSpPr>
        <p:spPr>
          <a:xfrm>
            <a:off x="228600"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6"/>
          <p:cNvSpPr/>
          <p:nvPr/>
        </p:nvSpPr>
        <p:spPr>
          <a:xfrm>
            <a:off x="576072"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6"/>
          <p:cNvSpPr/>
          <p:nvPr/>
        </p:nvSpPr>
        <p:spPr>
          <a:xfrm>
            <a:off x="923544"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6"/>
          <p:cNvSpPr/>
          <p:nvPr/>
        </p:nvSpPr>
        <p:spPr>
          <a:xfrm>
            <a:off x="1271016"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6"/>
          <p:cNvSpPr/>
          <p:nvPr/>
        </p:nvSpPr>
        <p:spPr>
          <a:xfrm>
            <a:off x="1618488"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6"/>
          <p:cNvSpPr/>
          <p:nvPr/>
        </p:nvSpPr>
        <p:spPr>
          <a:xfrm>
            <a:off x="228600"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6"/>
          <p:cNvSpPr/>
          <p:nvPr/>
        </p:nvSpPr>
        <p:spPr>
          <a:xfrm>
            <a:off x="576072"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6"/>
          <p:cNvSpPr/>
          <p:nvPr/>
        </p:nvSpPr>
        <p:spPr>
          <a:xfrm>
            <a:off x="923544"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6"/>
          <p:cNvSpPr/>
          <p:nvPr/>
        </p:nvSpPr>
        <p:spPr>
          <a:xfrm>
            <a:off x="1271016"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6"/>
          <p:cNvSpPr/>
          <p:nvPr/>
        </p:nvSpPr>
        <p:spPr>
          <a:xfrm>
            <a:off x="1618488"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6"/>
          <p:cNvSpPr/>
          <p:nvPr/>
        </p:nvSpPr>
        <p:spPr>
          <a:xfrm>
            <a:off x="228600"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6"/>
          <p:cNvSpPr/>
          <p:nvPr/>
        </p:nvSpPr>
        <p:spPr>
          <a:xfrm>
            <a:off x="576072"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6"/>
          <p:cNvSpPr/>
          <p:nvPr/>
        </p:nvSpPr>
        <p:spPr>
          <a:xfrm>
            <a:off x="923544"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6"/>
          <p:cNvSpPr/>
          <p:nvPr/>
        </p:nvSpPr>
        <p:spPr>
          <a:xfrm>
            <a:off x="1271016"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6"/>
          <p:cNvSpPr/>
          <p:nvPr/>
        </p:nvSpPr>
        <p:spPr>
          <a:xfrm>
            <a:off x="1618488"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6"/>
          <p:cNvSpPr/>
          <p:nvPr/>
        </p:nvSpPr>
        <p:spPr>
          <a:xfrm>
            <a:off x="228600"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6"/>
          <p:cNvSpPr/>
          <p:nvPr/>
        </p:nvSpPr>
        <p:spPr>
          <a:xfrm>
            <a:off x="576072"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6"/>
          <p:cNvSpPr/>
          <p:nvPr/>
        </p:nvSpPr>
        <p:spPr>
          <a:xfrm>
            <a:off x="923544"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6"/>
          <p:cNvSpPr/>
          <p:nvPr/>
        </p:nvSpPr>
        <p:spPr>
          <a:xfrm>
            <a:off x="1271016"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6"/>
          <p:cNvSpPr/>
          <p:nvPr/>
        </p:nvSpPr>
        <p:spPr>
          <a:xfrm>
            <a:off x="1618488"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6"/>
          <p:cNvSpPr/>
          <p:nvPr/>
        </p:nvSpPr>
        <p:spPr>
          <a:xfrm>
            <a:off x="0" y="0"/>
            <a:ext cx="9144000" cy="7773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6"/>
          <p:cNvSpPr/>
          <p:nvPr/>
        </p:nvSpPr>
        <p:spPr>
          <a:xfrm>
            <a:off x="0" y="0"/>
            <a:ext cx="164700" cy="7773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6"/>
          <p:cNvSpPr/>
          <p:nvPr/>
        </p:nvSpPr>
        <p:spPr>
          <a:xfrm>
            <a:off x="8321040" y="0"/>
            <a:ext cx="731400" cy="777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C2A8"/>
              </a:buClr>
              <a:buSzPts val="1800"/>
              <a:buFont typeface="Calibri"/>
              <a:buNone/>
            </a:pPr>
            <a:r>
              <a:rPr b="1" lang="pl" sz="1800">
                <a:solidFill>
                  <a:srgbClr val="00C2A8"/>
                </a:solidFill>
                <a:latin typeface="Calibri"/>
                <a:ea typeface="Calibri"/>
                <a:cs typeface="Calibri"/>
                <a:sym typeface="Calibri"/>
              </a:rPr>
              <a:t>11</a:t>
            </a:r>
            <a:endParaRPr b="0" i="0" sz="1800" u="none" cap="none" strike="noStrike">
              <a:solidFill>
                <a:schemeClr val="dk1"/>
              </a:solidFill>
              <a:latin typeface="Calibri"/>
              <a:ea typeface="Calibri"/>
              <a:cs typeface="Calibri"/>
              <a:sym typeface="Calibri"/>
            </a:endParaRPr>
          </a:p>
        </p:txBody>
      </p:sp>
      <p:sp>
        <p:nvSpPr>
          <p:cNvPr id="664" name="Google Shape;664;p26"/>
          <p:cNvSpPr/>
          <p:nvPr/>
        </p:nvSpPr>
        <p:spPr>
          <a:xfrm>
            <a:off x="0" y="4754880"/>
            <a:ext cx="9144000" cy="3885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6"/>
          <p:cNvSpPr/>
          <p:nvPr/>
        </p:nvSpPr>
        <p:spPr>
          <a:xfrm>
            <a:off x="384048" y="0"/>
            <a:ext cx="7772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lang="pl" sz="2200">
                <a:solidFill>
                  <a:schemeClr val="lt1"/>
                </a:solidFill>
                <a:latin typeface="Calibri"/>
                <a:ea typeface="Calibri"/>
                <a:cs typeface="Calibri"/>
                <a:sym typeface="Calibri"/>
              </a:rPr>
              <a:t>WYKRESY</a:t>
            </a:r>
            <a:r>
              <a:rPr lang="pl" sz="2700">
                <a:solidFill>
                  <a:schemeClr val="lt1"/>
                </a:solidFill>
                <a:latin typeface="Calibri"/>
                <a:ea typeface="Calibri"/>
                <a:cs typeface="Calibri"/>
                <a:sym typeface="Calibri"/>
              </a:rPr>
              <a:t> </a:t>
            </a:r>
            <a:r>
              <a:rPr lang="pl" sz="2200">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p:txBody>
      </p:sp>
      <p:pic>
        <p:nvPicPr>
          <p:cNvPr id="666" name="Google Shape;666;p26"/>
          <p:cNvPicPr preferRelativeResize="0"/>
          <p:nvPr/>
        </p:nvPicPr>
        <p:blipFill>
          <a:blip r:embed="rId3">
            <a:alphaModFix/>
          </a:blip>
          <a:stretch>
            <a:fillRect/>
          </a:stretch>
        </p:blipFill>
        <p:spPr>
          <a:xfrm>
            <a:off x="4695710" y="1126950"/>
            <a:ext cx="4265340" cy="3278275"/>
          </a:xfrm>
          <a:prstGeom prst="rect">
            <a:avLst/>
          </a:prstGeom>
          <a:noFill/>
          <a:ln>
            <a:noFill/>
          </a:ln>
        </p:spPr>
      </p:pic>
      <p:pic>
        <p:nvPicPr>
          <p:cNvPr id="667" name="Google Shape;667;p26"/>
          <p:cNvPicPr preferRelativeResize="0"/>
          <p:nvPr/>
        </p:nvPicPr>
        <p:blipFill>
          <a:blip r:embed="rId4">
            <a:alphaModFix/>
          </a:blip>
          <a:stretch>
            <a:fillRect/>
          </a:stretch>
        </p:blipFill>
        <p:spPr>
          <a:xfrm>
            <a:off x="164700" y="1126950"/>
            <a:ext cx="4330961" cy="3278275"/>
          </a:xfrm>
          <a:prstGeom prst="rect">
            <a:avLst/>
          </a:prstGeom>
          <a:noFill/>
          <a:ln>
            <a:noFill/>
          </a:ln>
        </p:spPr>
      </p:pic>
      <p:sp>
        <p:nvSpPr>
          <p:cNvPr id="668" name="Google Shape;668;p26"/>
          <p:cNvSpPr/>
          <p:nvPr/>
        </p:nvSpPr>
        <p:spPr>
          <a:xfrm>
            <a:off x="4572000" y="4754880"/>
            <a:ext cx="4206300" cy="384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6AD"/>
              </a:buClr>
              <a:buSzPts val="1000"/>
              <a:buFont typeface="Calibri"/>
              <a:buNone/>
            </a:pPr>
            <a:r>
              <a:rPr b="0" i="0" lang="pl" sz="1000" u="none" cap="none" strike="noStrike">
                <a:solidFill>
                  <a:srgbClr val="8A96AD"/>
                </a:solidFill>
                <a:latin typeface="Calibri"/>
                <a:ea typeface="Calibri"/>
                <a:cs typeface="Calibri"/>
                <a:sym typeface="Calibri"/>
              </a:rPr>
              <a:t>[ </a:t>
            </a:r>
            <a:r>
              <a:rPr lang="pl" sz="1000">
                <a:solidFill>
                  <a:srgbClr val="8A96AD"/>
                </a:solidFill>
                <a:latin typeface="Calibri"/>
                <a:ea typeface="Calibri"/>
                <a:cs typeface="Calibri"/>
                <a:sym typeface="Calibri"/>
              </a:rPr>
              <a:t>16.05.2026</a:t>
            </a:r>
            <a:r>
              <a:rPr b="0" i="0" lang="pl" sz="1000" u="none" cap="none" strike="noStrike">
                <a:solidFill>
                  <a:srgbClr val="8A96AD"/>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669" name="Google Shape;669;p26"/>
          <p:cNvSpPr/>
          <p:nvPr/>
        </p:nvSpPr>
        <p:spPr>
          <a:xfrm>
            <a:off x="365760" y="4754880"/>
            <a:ext cx="457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000"/>
              <a:buFont typeface="Calibri"/>
              <a:buNone/>
            </a:pPr>
            <a:r>
              <a:rPr lang="pl" sz="1000">
                <a:solidFill>
                  <a:srgbClr val="8A96AD"/>
                </a:solidFill>
                <a:latin typeface="Calibri"/>
                <a:ea typeface="Calibri"/>
                <a:cs typeface="Calibri"/>
                <a:sym typeface="Calibri"/>
              </a:rPr>
              <a:t>Objętość kuli k-wymiarowej 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30"/>
        </a:solidFill>
      </p:bgPr>
    </p:bg>
    <p:spTree>
      <p:nvGrpSpPr>
        <p:cNvPr id="674" name="Shape 674"/>
        <p:cNvGrpSpPr/>
        <p:nvPr/>
      </p:nvGrpSpPr>
      <p:grpSpPr>
        <a:xfrm>
          <a:off x="0" y="0"/>
          <a:ext cx="0" cy="0"/>
          <a:chOff x="0" y="0"/>
          <a:chExt cx="0" cy="0"/>
        </a:xfrm>
      </p:grpSpPr>
      <p:sp>
        <p:nvSpPr>
          <p:cNvPr id="675" name="Google Shape;675;p27"/>
          <p:cNvSpPr/>
          <p:nvPr/>
        </p:nvSpPr>
        <p:spPr>
          <a:xfrm>
            <a:off x="7406640" y="-1554480"/>
            <a:ext cx="2560200" cy="2560200"/>
          </a:xfrm>
          <a:prstGeom prst="ellipse">
            <a:avLst/>
          </a:prstGeom>
          <a:solidFill>
            <a:srgbClr val="00C2A8">
              <a:alpha val="20000"/>
            </a:srgbClr>
          </a:solidFill>
          <a:ln cap="flat" cmpd="sng" w="19050">
            <a:solidFill>
              <a:srgbClr val="00C2A8">
                <a:alpha val="1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7"/>
          <p:cNvSpPr/>
          <p:nvPr/>
        </p:nvSpPr>
        <p:spPr>
          <a:xfrm>
            <a:off x="7680960" y="731520"/>
            <a:ext cx="1280100" cy="1280100"/>
          </a:xfrm>
          <a:prstGeom prst="ellipse">
            <a:avLst/>
          </a:prstGeom>
          <a:solidFill>
            <a:srgbClr val="7B5EA7">
              <a:alpha val="25099"/>
            </a:srgbClr>
          </a:solidFill>
          <a:ln cap="flat" cmpd="sng" w="19050">
            <a:solidFill>
              <a:srgbClr val="7B5EA7">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7"/>
          <p:cNvSpPr/>
          <p:nvPr/>
        </p:nvSpPr>
        <p:spPr>
          <a:xfrm>
            <a:off x="228600"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7"/>
          <p:cNvSpPr/>
          <p:nvPr/>
        </p:nvSpPr>
        <p:spPr>
          <a:xfrm>
            <a:off x="576072"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7"/>
          <p:cNvSpPr/>
          <p:nvPr/>
        </p:nvSpPr>
        <p:spPr>
          <a:xfrm>
            <a:off x="923544"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7"/>
          <p:cNvSpPr/>
          <p:nvPr/>
        </p:nvSpPr>
        <p:spPr>
          <a:xfrm>
            <a:off x="1271016"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7"/>
          <p:cNvSpPr/>
          <p:nvPr/>
        </p:nvSpPr>
        <p:spPr>
          <a:xfrm>
            <a:off x="1618488" y="3566160"/>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7"/>
          <p:cNvSpPr/>
          <p:nvPr/>
        </p:nvSpPr>
        <p:spPr>
          <a:xfrm>
            <a:off x="228600"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7"/>
          <p:cNvSpPr/>
          <p:nvPr/>
        </p:nvSpPr>
        <p:spPr>
          <a:xfrm>
            <a:off x="576072"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7"/>
          <p:cNvSpPr/>
          <p:nvPr/>
        </p:nvSpPr>
        <p:spPr>
          <a:xfrm>
            <a:off x="923544"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7"/>
          <p:cNvSpPr/>
          <p:nvPr/>
        </p:nvSpPr>
        <p:spPr>
          <a:xfrm>
            <a:off x="1271016"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7"/>
          <p:cNvSpPr/>
          <p:nvPr/>
        </p:nvSpPr>
        <p:spPr>
          <a:xfrm>
            <a:off x="1618488" y="3913632"/>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7"/>
          <p:cNvSpPr/>
          <p:nvPr/>
        </p:nvSpPr>
        <p:spPr>
          <a:xfrm>
            <a:off x="228600"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7"/>
          <p:cNvSpPr/>
          <p:nvPr/>
        </p:nvSpPr>
        <p:spPr>
          <a:xfrm>
            <a:off x="576072"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7"/>
          <p:cNvSpPr/>
          <p:nvPr/>
        </p:nvSpPr>
        <p:spPr>
          <a:xfrm>
            <a:off x="923544"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7"/>
          <p:cNvSpPr/>
          <p:nvPr/>
        </p:nvSpPr>
        <p:spPr>
          <a:xfrm>
            <a:off x="1271016"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7"/>
          <p:cNvSpPr/>
          <p:nvPr/>
        </p:nvSpPr>
        <p:spPr>
          <a:xfrm>
            <a:off x="1618488" y="4261104"/>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7"/>
          <p:cNvSpPr/>
          <p:nvPr/>
        </p:nvSpPr>
        <p:spPr>
          <a:xfrm>
            <a:off x="228600"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7"/>
          <p:cNvSpPr/>
          <p:nvPr/>
        </p:nvSpPr>
        <p:spPr>
          <a:xfrm>
            <a:off x="576072"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7"/>
          <p:cNvSpPr/>
          <p:nvPr/>
        </p:nvSpPr>
        <p:spPr>
          <a:xfrm>
            <a:off x="923544"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7"/>
          <p:cNvSpPr/>
          <p:nvPr/>
        </p:nvSpPr>
        <p:spPr>
          <a:xfrm>
            <a:off x="1271016"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7"/>
          <p:cNvSpPr/>
          <p:nvPr/>
        </p:nvSpPr>
        <p:spPr>
          <a:xfrm>
            <a:off x="1618488" y="4608576"/>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7"/>
          <p:cNvSpPr/>
          <p:nvPr/>
        </p:nvSpPr>
        <p:spPr>
          <a:xfrm>
            <a:off x="228600"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7"/>
          <p:cNvSpPr/>
          <p:nvPr/>
        </p:nvSpPr>
        <p:spPr>
          <a:xfrm>
            <a:off x="576072"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7"/>
          <p:cNvSpPr/>
          <p:nvPr/>
        </p:nvSpPr>
        <p:spPr>
          <a:xfrm>
            <a:off x="923544"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7"/>
          <p:cNvSpPr/>
          <p:nvPr/>
        </p:nvSpPr>
        <p:spPr>
          <a:xfrm>
            <a:off x="1271016"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7"/>
          <p:cNvSpPr/>
          <p:nvPr/>
        </p:nvSpPr>
        <p:spPr>
          <a:xfrm>
            <a:off x="1618488" y="4956048"/>
            <a:ext cx="54900" cy="54900"/>
          </a:xfrm>
          <a:prstGeom prst="ellipse">
            <a:avLst/>
          </a:prstGeom>
          <a:solidFill>
            <a:srgbClr val="00C2A8">
              <a:alpha val="18040"/>
            </a:srgbClr>
          </a:solidFill>
          <a:ln cap="flat" cmpd="sng" w="12700">
            <a:solidFill>
              <a:srgbClr val="00C2A8">
                <a:alpha val="1804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7"/>
          <p:cNvSpPr/>
          <p:nvPr/>
        </p:nvSpPr>
        <p:spPr>
          <a:xfrm>
            <a:off x="0" y="0"/>
            <a:ext cx="9144000" cy="7773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7"/>
          <p:cNvSpPr/>
          <p:nvPr/>
        </p:nvSpPr>
        <p:spPr>
          <a:xfrm>
            <a:off x="0" y="0"/>
            <a:ext cx="164700" cy="7773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7"/>
          <p:cNvSpPr/>
          <p:nvPr/>
        </p:nvSpPr>
        <p:spPr>
          <a:xfrm>
            <a:off x="8321040" y="0"/>
            <a:ext cx="731400" cy="777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C2A8"/>
              </a:buClr>
              <a:buSzPts val="1800"/>
              <a:buFont typeface="Calibri"/>
              <a:buNone/>
            </a:pPr>
            <a:r>
              <a:rPr b="1" lang="pl" sz="1800">
                <a:solidFill>
                  <a:srgbClr val="00C2A8"/>
                </a:solidFill>
                <a:latin typeface="Calibri"/>
                <a:ea typeface="Calibri"/>
                <a:cs typeface="Calibri"/>
                <a:sym typeface="Calibri"/>
              </a:rPr>
              <a:t>12</a:t>
            </a:r>
            <a:endParaRPr b="0" i="0" sz="1800" u="none" cap="none" strike="noStrike">
              <a:solidFill>
                <a:schemeClr val="dk1"/>
              </a:solidFill>
              <a:latin typeface="Calibri"/>
              <a:ea typeface="Calibri"/>
              <a:cs typeface="Calibri"/>
              <a:sym typeface="Calibri"/>
            </a:endParaRPr>
          </a:p>
        </p:txBody>
      </p:sp>
      <p:sp>
        <p:nvSpPr>
          <p:cNvPr id="705" name="Google Shape;705;p27"/>
          <p:cNvSpPr/>
          <p:nvPr/>
        </p:nvSpPr>
        <p:spPr>
          <a:xfrm>
            <a:off x="0" y="4754880"/>
            <a:ext cx="9144000" cy="388500"/>
          </a:xfrm>
          <a:prstGeom prst="rect">
            <a:avLst/>
          </a:prstGeom>
          <a:solidFill>
            <a:srgbClr val="0A0E1A"/>
          </a:solidFill>
          <a:ln cap="flat" cmpd="sng" w="12700">
            <a:solidFill>
              <a:srgbClr val="0A0E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7"/>
          <p:cNvSpPr/>
          <p:nvPr/>
        </p:nvSpPr>
        <p:spPr>
          <a:xfrm>
            <a:off x="4572000" y="4754880"/>
            <a:ext cx="4206300" cy="384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6AD"/>
              </a:buClr>
              <a:buSzPts val="1000"/>
              <a:buFont typeface="Calibri"/>
              <a:buNone/>
            </a:pPr>
            <a:r>
              <a:rPr b="0" i="0" lang="pl" sz="1000" u="none" cap="none" strike="noStrike">
                <a:solidFill>
                  <a:srgbClr val="8A96AD"/>
                </a:solidFill>
                <a:latin typeface="Calibri"/>
                <a:ea typeface="Calibri"/>
                <a:cs typeface="Calibri"/>
                <a:sym typeface="Calibri"/>
              </a:rPr>
              <a:t>[ </a:t>
            </a:r>
            <a:r>
              <a:rPr lang="pl" sz="1000">
                <a:solidFill>
                  <a:srgbClr val="8A96AD"/>
                </a:solidFill>
                <a:latin typeface="Calibri"/>
                <a:ea typeface="Calibri"/>
                <a:cs typeface="Calibri"/>
                <a:sym typeface="Calibri"/>
              </a:rPr>
              <a:t>16.05.2026</a:t>
            </a:r>
            <a:r>
              <a:rPr b="0" i="0" lang="pl" sz="1000" u="none" cap="none" strike="noStrike">
                <a:solidFill>
                  <a:srgbClr val="8A96AD"/>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707" name="Google Shape;707;p27"/>
          <p:cNvSpPr/>
          <p:nvPr/>
        </p:nvSpPr>
        <p:spPr>
          <a:xfrm>
            <a:off x="384048" y="0"/>
            <a:ext cx="77724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lang="pl" sz="2200">
                <a:solidFill>
                  <a:schemeClr val="lt1"/>
                </a:solidFill>
                <a:latin typeface="Calibri"/>
                <a:ea typeface="Calibri"/>
                <a:cs typeface="Calibri"/>
                <a:sym typeface="Calibri"/>
              </a:rPr>
              <a:t>PEŁNY KOD</a:t>
            </a:r>
            <a:r>
              <a:rPr lang="pl" sz="2700">
                <a:solidFill>
                  <a:schemeClr val="lt1"/>
                </a:solidFill>
                <a:latin typeface="Calibri"/>
                <a:ea typeface="Calibri"/>
                <a:cs typeface="Calibri"/>
                <a:sym typeface="Calibri"/>
              </a:rPr>
              <a:t> </a:t>
            </a:r>
            <a:r>
              <a:rPr lang="pl" sz="2200">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p:txBody>
      </p:sp>
      <p:pic>
        <p:nvPicPr>
          <p:cNvPr id="708" name="Google Shape;708;p27"/>
          <p:cNvPicPr preferRelativeResize="0"/>
          <p:nvPr/>
        </p:nvPicPr>
        <p:blipFill>
          <a:blip r:embed="rId3">
            <a:alphaModFix/>
          </a:blip>
          <a:stretch>
            <a:fillRect/>
          </a:stretch>
        </p:blipFill>
        <p:spPr>
          <a:xfrm>
            <a:off x="378400" y="2062075"/>
            <a:ext cx="1145200" cy="1145200"/>
          </a:xfrm>
          <a:prstGeom prst="rect">
            <a:avLst/>
          </a:prstGeom>
          <a:noFill/>
          <a:ln>
            <a:noFill/>
          </a:ln>
        </p:spPr>
      </p:pic>
      <p:sp>
        <p:nvSpPr>
          <p:cNvPr id="709" name="Google Shape;709;p27"/>
          <p:cNvSpPr/>
          <p:nvPr/>
        </p:nvSpPr>
        <p:spPr>
          <a:xfrm>
            <a:off x="1732050" y="2062063"/>
            <a:ext cx="6128400" cy="1145100"/>
          </a:xfrm>
          <a:prstGeom prst="rect">
            <a:avLst/>
          </a:prstGeom>
          <a:solidFill>
            <a:srgbClr val="1A2E4A">
              <a:alpha val="80000"/>
            </a:srgbClr>
          </a:solidFill>
          <a:ln cap="flat" cmpd="sng" w="12700">
            <a:solidFill>
              <a:srgbClr val="7B5EA7">
                <a:alpha val="451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pl" sz="2400">
                <a:solidFill>
                  <a:srgbClr val="00C2A8"/>
                </a:solidFill>
              </a:rPr>
              <a:t>https://github.com/TomieRR/MonteCarlo</a:t>
            </a:r>
            <a:endParaRPr b="1" sz="2400">
              <a:solidFill>
                <a:srgbClr val="00C2A8"/>
              </a:solidFill>
            </a:endParaRPr>
          </a:p>
        </p:txBody>
      </p:sp>
      <p:sp>
        <p:nvSpPr>
          <p:cNvPr id="710" name="Google Shape;710;p27"/>
          <p:cNvSpPr/>
          <p:nvPr/>
        </p:nvSpPr>
        <p:spPr>
          <a:xfrm>
            <a:off x="1673400" y="2062075"/>
            <a:ext cx="63900" cy="1145100"/>
          </a:xfrm>
          <a:prstGeom prst="rect">
            <a:avLst/>
          </a:prstGeom>
          <a:solidFill>
            <a:srgbClr val="7B5EA7">
              <a:alpha val="70200"/>
            </a:srgbClr>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7"/>
          <p:cNvSpPr/>
          <p:nvPr/>
        </p:nvSpPr>
        <p:spPr>
          <a:xfrm>
            <a:off x="365760" y="4754880"/>
            <a:ext cx="4572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000"/>
              <a:buFont typeface="Calibri"/>
              <a:buNone/>
            </a:pPr>
            <a:r>
              <a:rPr lang="pl" sz="1000">
                <a:solidFill>
                  <a:srgbClr val="8A96AD"/>
                </a:solidFill>
                <a:latin typeface="Calibri"/>
                <a:ea typeface="Calibri"/>
                <a:cs typeface="Calibri"/>
                <a:sym typeface="Calibri"/>
              </a:rPr>
              <a:t>Objętość kuli k-wymiarowej I</a:t>
            </a:r>
            <a:endParaRPr b="0" i="0" sz="10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1A"/>
        </a:solidFill>
      </p:bgPr>
    </p:bg>
    <p:spTree>
      <p:nvGrpSpPr>
        <p:cNvPr id="716" name="Shape 716"/>
        <p:cNvGrpSpPr/>
        <p:nvPr/>
      </p:nvGrpSpPr>
      <p:grpSpPr>
        <a:xfrm>
          <a:off x="0" y="0"/>
          <a:ext cx="0" cy="0"/>
          <a:chOff x="0" y="0"/>
          <a:chExt cx="0" cy="0"/>
        </a:xfrm>
      </p:grpSpPr>
      <p:sp>
        <p:nvSpPr>
          <p:cNvPr id="717" name="Google Shape;717;p28"/>
          <p:cNvSpPr/>
          <p:nvPr/>
        </p:nvSpPr>
        <p:spPr>
          <a:xfrm>
            <a:off x="6217920" y="-731520"/>
            <a:ext cx="3291900" cy="3291900"/>
          </a:xfrm>
          <a:prstGeom prst="ellipse">
            <a:avLst/>
          </a:prstGeom>
          <a:solidFill>
            <a:srgbClr val="00C2A8">
              <a:alpha val="25099"/>
            </a:srgbClr>
          </a:solidFill>
          <a:ln cap="flat" cmpd="sng" w="19050">
            <a:solidFill>
              <a:srgbClr val="00C2A8">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8"/>
          <p:cNvSpPr/>
          <p:nvPr/>
        </p:nvSpPr>
        <p:spPr>
          <a:xfrm>
            <a:off x="7680960" y="1371600"/>
            <a:ext cx="1828800" cy="1828800"/>
          </a:xfrm>
          <a:prstGeom prst="ellipse">
            <a:avLst/>
          </a:prstGeom>
          <a:solidFill>
            <a:srgbClr val="7B5EA7">
              <a:alpha val="34900"/>
            </a:srgbClr>
          </a:solidFill>
          <a:ln cap="flat" cmpd="sng" w="19050">
            <a:solidFill>
              <a:srgbClr val="7B5EA7">
                <a:alpha val="250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8"/>
          <p:cNvSpPr/>
          <p:nvPr/>
        </p:nvSpPr>
        <p:spPr>
          <a:xfrm>
            <a:off x="6583680" y="2743200"/>
            <a:ext cx="1097400" cy="1097400"/>
          </a:xfrm>
          <a:prstGeom prst="ellipse">
            <a:avLst/>
          </a:prstGeom>
          <a:solidFill>
            <a:srgbClr val="F5C542">
              <a:alpha val="30199"/>
            </a:srgbClr>
          </a:solidFill>
          <a:ln cap="flat" cmpd="sng" w="19050">
            <a:solidFill>
              <a:srgbClr val="F5C542">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8"/>
          <p:cNvSpPr/>
          <p:nvPr/>
        </p:nvSpPr>
        <p:spPr>
          <a:xfrm>
            <a:off x="7132320" y="-182880"/>
            <a:ext cx="731400" cy="731400"/>
          </a:xfrm>
          <a:prstGeom prst="ellipse">
            <a:avLst/>
          </a:prstGeom>
          <a:solidFill>
            <a:srgbClr val="00C2A8">
              <a:alpha val="40000"/>
            </a:srgbClr>
          </a:solidFill>
          <a:ln cap="flat" cmpd="sng" w="19050">
            <a:solidFill>
              <a:srgbClr val="00C2A8">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8"/>
          <p:cNvSpPr/>
          <p:nvPr/>
        </p:nvSpPr>
        <p:spPr>
          <a:xfrm>
            <a:off x="274320" y="36576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8"/>
          <p:cNvSpPr/>
          <p:nvPr/>
        </p:nvSpPr>
        <p:spPr>
          <a:xfrm>
            <a:off x="658368" y="36576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8"/>
          <p:cNvSpPr/>
          <p:nvPr/>
        </p:nvSpPr>
        <p:spPr>
          <a:xfrm>
            <a:off x="1042416" y="36576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8"/>
          <p:cNvSpPr/>
          <p:nvPr/>
        </p:nvSpPr>
        <p:spPr>
          <a:xfrm>
            <a:off x="1426464" y="36576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8"/>
          <p:cNvSpPr/>
          <p:nvPr/>
        </p:nvSpPr>
        <p:spPr>
          <a:xfrm>
            <a:off x="1810512" y="36576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8"/>
          <p:cNvSpPr/>
          <p:nvPr/>
        </p:nvSpPr>
        <p:spPr>
          <a:xfrm>
            <a:off x="2194560" y="36576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8"/>
          <p:cNvSpPr/>
          <p:nvPr/>
        </p:nvSpPr>
        <p:spPr>
          <a:xfrm>
            <a:off x="274320" y="74980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8"/>
          <p:cNvSpPr/>
          <p:nvPr/>
        </p:nvSpPr>
        <p:spPr>
          <a:xfrm>
            <a:off x="658368" y="74980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8"/>
          <p:cNvSpPr/>
          <p:nvPr/>
        </p:nvSpPr>
        <p:spPr>
          <a:xfrm>
            <a:off x="1042416" y="74980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8"/>
          <p:cNvSpPr/>
          <p:nvPr/>
        </p:nvSpPr>
        <p:spPr>
          <a:xfrm>
            <a:off x="1426464" y="74980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8"/>
          <p:cNvSpPr/>
          <p:nvPr/>
        </p:nvSpPr>
        <p:spPr>
          <a:xfrm>
            <a:off x="1810512" y="74980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8"/>
          <p:cNvSpPr/>
          <p:nvPr/>
        </p:nvSpPr>
        <p:spPr>
          <a:xfrm>
            <a:off x="2194560" y="74980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8"/>
          <p:cNvSpPr/>
          <p:nvPr/>
        </p:nvSpPr>
        <p:spPr>
          <a:xfrm>
            <a:off x="274320" y="1133856"/>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8"/>
          <p:cNvSpPr/>
          <p:nvPr/>
        </p:nvSpPr>
        <p:spPr>
          <a:xfrm>
            <a:off x="658368" y="1133856"/>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8"/>
          <p:cNvSpPr/>
          <p:nvPr/>
        </p:nvSpPr>
        <p:spPr>
          <a:xfrm>
            <a:off x="1042416" y="1133856"/>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8"/>
          <p:cNvSpPr/>
          <p:nvPr/>
        </p:nvSpPr>
        <p:spPr>
          <a:xfrm>
            <a:off x="1426464" y="1133856"/>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8"/>
          <p:cNvSpPr/>
          <p:nvPr/>
        </p:nvSpPr>
        <p:spPr>
          <a:xfrm>
            <a:off x="1810512" y="1133856"/>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8"/>
          <p:cNvSpPr/>
          <p:nvPr/>
        </p:nvSpPr>
        <p:spPr>
          <a:xfrm>
            <a:off x="2194560" y="1133856"/>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8"/>
          <p:cNvSpPr/>
          <p:nvPr/>
        </p:nvSpPr>
        <p:spPr>
          <a:xfrm>
            <a:off x="274320" y="1517904"/>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8"/>
          <p:cNvSpPr/>
          <p:nvPr/>
        </p:nvSpPr>
        <p:spPr>
          <a:xfrm>
            <a:off x="658368" y="1517904"/>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8"/>
          <p:cNvSpPr/>
          <p:nvPr/>
        </p:nvSpPr>
        <p:spPr>
          <a:xfrm>
            <a:off x="1042416" y="1517904"/>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8"/>
          <p:cNvSpPr/>
          <p:nvPr/>
        </p:nvSpPr>
        <p:spPr>
          <a:xfrm>
            <a:off x="1426464" y="1517904"/>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8"/>
          <p:cNvSpPr/>
          <p:nvPr/>
        </p:nvSpPr>
        <p:spPr>
          <a:xfrm>
            <a:off x="1810512" y="1517904"/>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8"/>
          <p:cNvSpPr/>
          <p:nvPr/>
        </p:nvSpPr>
        <p:spPr>
          <a:xfrm>
            <a:off x="2194560" y="1517904"/>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8"/>
          <p:cNvSpPr/>
          <p:nvPr/>
        </p:nvSpPr>
        <p:spPr>
          <a:xfrm>
            <a:off x="274320" y="1901952"/>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8"/>
          <p:cNvSpPr/>
          <p:nvPr/>
        </p:nvSpPr>
        <p:spPr>
          <a:xfrm>
            <a:off x="658368" y="1901952"/>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8"/>
          <p:cNvSpPr/>
          <p:nvPr/>
        </p:nvSpPr>
        <p:spPr>
          <a:xfrm>
            <a:off x="1042416" y="1901952"/>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8"/>
          <p:cNvSpPr/>
          <p:nvPr/>
        </p:nvSpPr>
        <p:spPr>
          <a:xfrm>
            <a:off x="1426464" y="1901952"/>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8"/>
          <p:cNvSpPr/>
          <p:nvPr/>
        </p:nvSpPr>
        <p:spPr>
          <a:xfrm>
            <a:off x="1810512" y="1901952"/>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8"/>
          <p:cNvSpPr/>
          <p:nvPr/>
        </p:nvSpPr>
        <p:spPr>
          <a:xfrm>
            <a:off x="2194560" y="1901952"/>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8"/>
          <p:cNvSpPr/>
          <p:nvPr/>
        </p:nvSpPr>
        <p:spPr>
          <a:xfrm>
            <a:off x="274320" y="228600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8"/>
          <p:cNvSpPr/>
          <p:nvPr/>
        </p:nvSpPr>
        <p:spPr>
          <a:xfrm>
            <a:off x="658368" y="228600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8"/>
          <p:cNvSpPr/>
          <p:nvPr/>
        </p:nvSpPr>
        <p:spPr>
          <a:xfrm>
            <a:off x="1042416" y="228600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8"/>
          <p:cNvSpPr/>
          <p:nvPr/>
        </p:nvSpPr>
        <p:spPr>
          <a:xfrm>
            <a:off x="1426464" y="228600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8"/>
          <p:cNvSpPr/>
          <p:nvPr/>
        </p:nvSpPr>
        <p:spPr>
          <a:xfrm>
            <a:off x="1810512" y="228600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8"/>
          <p:cNvSpPr/>
          <p:nvPr/>
        </p:nvSpPr>
        <p:spPr>
          <a:xfrm>
            <a:off x="2194560" y="228600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8"/>
          <p:cNvSpPr/>
          <p:nvPr/>
        </p:nvSpPr>
        <p:spPr>
          <a:xfrm>
            <a:off x="274320" y="267004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8"/>
          <p:cNvSpPr/>
          <p:nvPr/>
        </p:nvSpPr>
        <p:spPr>
          <a:xfrm>
            <a:off x="658368" y="267004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8"/>
          <p:cNvSpPr/>
          <p:nvPr/>
        </p:nvSpPr>
        <p:spPr>
          <a:xfrm>
            <a:off x="1042416" y="267004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8"/>
          <p:cNvSpPr/>
          <p:nvPr/>
        </p:nvSpPr>
        <p:spPr>
          <a:xfrm>
            <a:off x="1426464" y="267004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8"/>
          <p:cNvSpPr/>
          <p:nvPr/>
        </p:nvSpPr>
        <p:spPr>
          <a:xfrm>
            <a:off x="1810512" y="267004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8"/>
          <p:cNvSpPr/>
          <p:nvPr/>
        </p:nvSpPr>
        <p:spPr>
          <a:xfrm>
            <a:off x="2194560" y="267004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8"/>
          <p:cNvSpPr/>
          <p:nvPr/>
        </p:nvSpPr>
        <p:spPr>
          <a:xfrm>
            <a:off x="274320" y="3054096"/>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8"/>
          <p:cNvSpPr/>
          <p:nvPr/>
        </p:nvSpPr>
        <p:spPr>
          <a:xfrm>
            <a:off x="658368" y="3054096"/>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8"/>
          <p:cNvSpPr/>
          <p:nvPr/>
        </p:nvSpPr>
        <p:spPr>
          <a:xfrm>
            <a:off x="1042416" y="3054096"/>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8"/>
          <p:cNvSpPr/>
          <p:nvPr/>
        </p:nvSpPr>
        <p:spPr>
          <a:xfrm>
            <a:off x="1426464" y="3054096"/>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8"/>
          <p:cNvSpPr/>
          <p:nvPr/>
        </p:nvSpPr>
        <p:spPr>
          <a:xfrm>
            <a:off x="1810512" y="3054096"/>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8"/>
          <p:cNvSpPr/>
          <p:nvPr/>
        </p:nvSpPr>
        <p:spPr>
          <a:xfrm>
            <a:off x="2194560" y="3054096"/>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8"/>
          <p:cNvSpPr/>
          <p:nvPr/>
        </p:nvSpPr>
        <p:spPr>
          <a:xfrm>
            <a:off x="274320" y="3438144"/>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8"/>
          <p:cNvSpPr/>
          <p:nvPr/>
        </p:nvSpPr>
        <p:spPr>
          <a:xfrm>
            <a:off x="658368" y="3438144"/>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8"/>
          <p:cNvSpPr/>
          <p:nvPr/>
        </p:nvSpPr>
        <p:spPr>
          <a:xfrm>
            <a:off x="1042416" y="3438144"/>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8"/>
          <p:cNvSpPr/>
          <p:nvPr/>
        </p:nvSpPr>
        <p:spPr>
          <a:xfrm>
            <a:off x="1426464" y="3438144"/>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8"/>
          <p:cNvSpPr/>
          <p:nvPr/>
        </p:nvSpPr>
        <p:spPr>
          <a:xfrm>
            <a:off x="1810512" y="3438144"/>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8"/>
          <p:cNvSpPr/>
          <p:nvPr/>
        </p:nvSpPr>
        <p:spPr>
          <a:xfrm>
            <a:off x="2194560" y="3438144"/>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8"/>
          <p:cNvSpPr/>
          <p:nvPr/>
        </p:nvSpPr>
        <p:spPr>
          <a:xfrm>
            <a:off x="274320" y="3822192"/>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8"/>
          <p:cNvSpPr/>
          <p:nvPr/>
        </p:nvSpPr>
        <p:spPr>
          <a:xfrm>
            <a:off x="658368" y="3822192"/>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8"/>
          <p:cNvSpPr/>
          <p:nvPr/>
        </p:nvSpPr>
        <p:spPr>
          <a:xfrm>
            <a:off x="1042416" y="3822192"/>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8"/>
          <p:cNvSpPr/>
          <p:nvPr/>
        </p:nvSpPr>
        <p:spPr>
          <a:xfrm>
            <a:off x="1426464" y="3822192"/>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8"/>
          <p:cNvSpPr/>
          <p:nvPr/>
        </p:nvSpPr>
        <p:spPr>
          <a:xfrm>
            <a:off x="1810512" y="3822192"/>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8"/>
          <p:cNvSpPr/>
          <p:nvPr/>
        </p:nvSpPr>
        <p:spPr>
          <a:xfrm>
            <a:off x="2194560" y="3822192"/>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8"/>
          <p:cNvSpPr/>
          <p:nvPr/>
        </p:nvSpPr>
        <p:spPr>
          <a:xfrm>
            <a:off x="274320" y="420624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8"/>
          <p:cNvSpPr/>
          <p:nvPr/>
        </p:nvSpPr>
        <p:spPr>
          <a:xfrm>
            <a:off x="658368" y="420624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8"/>
          <p:cNvSpPr/>
          <p:nvPr/>
        </p:nvSpPr>
        <p:spPr>
          <a:xfrm>
            <a:off x="1042416" y="420624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8"/>
          <p:cNvSpPr/>
          <p:nvPr/>
        </p:nvSpPr>
        <p:spPr>
          <a:xfrm>
            <a:off x="1426464" y="420624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8"/>
          <p:cNvSpPr/>
          <p:nvPr/>
        </p:nvSpPr>
        <p:spPr>
          <a:xfrm>
            <a:off x="1810512" y="420624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8"/>
          <p:cNvSpPr/>
          <p:nvPr/>
        </p:nvSpPr>
        <p:spPr>
          <a:xfrm>
            <a:off x="2194560" y="4206240"/>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8"/>
          <p:cNvSpPr/>
          <p:nvPr/>
        </p:nvSpPr>
        <p:spPr>
          <a:xfrm>
            <a:off x="274320" y="459028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8"/>
          <p:cNvSpPr/>
          <p:nvPr/>
        </p:nvSpPr>
        <p:spPr>
          <a:xfrm>
            <a:off x="658368" y="459028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8"/>
          <p:cNvSpPr/>
          <p:nvPr/>
        </p:nvSpPr>
        <p:spPr>
          <a:xfrm>
            <a:off x="1042416" y="459028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8"/>
          <p:cNvSpPr/>
          <p:nvPr/>
        </p:nvSpPr>
        <p:spPr>
          <a:xfrm>
            <a:off x="1426464" y="459028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8"/>
          <p:cNvSpPr/>
          <p:nvPr/>
        </p:nvSpPr>
        <p:spPr>
          <a:xfrm>
            <a:off x="1810512" y="459028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8"/>
          <p:cNvSpPr/>
          <p:nvPr/>
        </p:nvSpPr>
        <p:spPr>
          <a:xfrm>
            <a:off x="2194560" y="4590288"/>
            <a:ext cx="54900" cy="54900"/>
          </a:xfrm>
          <a:prstGeom prst="ellipse">
            <a:avLst/>
          </a:prstGeom>
          <a:solidFill>
            <a:srgbClr val="00C2A8">
              <a:alpha val="20000"/>
            </a:srgbClr>
          </a:solidFill>
          <a:ln cap="flat" cmpd="sng" w="12700">
            <a:solidFill>
              <a:srgbClr val="00C2A8">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8"/>
          <p:cNvSpPr/>
          <p:nvPr/>
        </p:nvSpPr>
        <p:spPr>
          <a:xfrm>
            <a:off x="0" y="0"/>
            <a:ext cx="164700" cy="51435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8"/>
          <p:cNvSpPr/>
          <p:nvPr/>
        </p:nvSpPr>
        <p:spPr>
          <a:xfrm>
            <a:off x="658375" y="0"/>
            <a:ext cx="6181200" cy="47091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FFFFFF"/>
              </a:buClr>
              <a:buSzPts val="4400"/>
              <a:buFont typeface="Calibri"/>
              <a:buNone/>
            </a:pPr>
            <a:r>
              <a:rPr b="1" lang="pl" sz="4400">
                <a:solidFill>
                  <a:srgbClr val="FFFFFF"/>
                </a:solidFill>
                <a:latin typeface="Calibri"/>
                <a:ea typeface="Calibri"/>
                <a:cs typeface="Calibri"/>
                <a:sym typeface="Calibri"/>
              </a:rPr>
              <a:t>Dziękuję za uwagę</a:t>
            </a:r>
            <a:endParaRPr b="0" i="0" sz="4400" u="none" cap="none" strike="noStrike">
              <a:solidFill>
                <a:schemeClr val="dk1"/>
              </a:solidFill>
              <a:latin typeface="Calibri"/>
              <a:ea typeface="Calibri"/>
              <a:cs typeface="Calibri"/>
              <a:sym typeface="Calibri"/>
            </a:endParaRPr>
          </a:p>
        </p:txBody>
      </p:sp>
      <p:sp>
        <p:nvSpPr>
          <p:cNvPr id="795" name="Google Shape;795;p28"/>
          <p:cNvSpPr/>
          <p:nvPr/>
        </p:nvSpPr>
        <p:spPr>
          <a:xfrm>
            <a:off x="4881300" y="3892900"/>
            <a:ext cx="4262700" cy="68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A8"/>
              </a:buClr>
              <a:buSzPts val="1500"/>
              <a:buFont typeface="Calibri"/>
              <a:buNone/>
            </a:pPr>
            <a:r>
              <a:rPr i="1" lang="pl" sz="2300">
                <a:solidFill>
                  <a:srgbClr val="00C2A8"/>
                </a:solidFill>
                <a:latin typeface="Calibri"/>
                <a:ea typeface="Calibri"/>
                <a:cs typeface="Calibri"/>
                <a:sym typeface="Calibri"/>
              </a:rPr>
              <a:t>Wykonał: Tomasz Kozakiewicz</a:t>
            </a:r>
            <a:endParaRPr b="0" i="0" sz="2300" u="none" cap="none" strike="noStrike">
              <a:solidFill>
                <a:schemeClr val="dk1"/>
              </a:solidFill>
              <a:latin typeface="Calibri"/>
              <a:ea typeface="Calibri"/>
              <a:cs typeface="Calibri"/>
              <a:sym typeface="Calibri"/>
            </a:endParaRPr>
          </a:p>
        </p:txBody>
      </p:sp>
      <p:sp>
        <p:nvSpPr>
          <p:cNvPr id="796" name="Google Shape;796;p28"/>
          <p:cNvSpPr/>
          <p:nvPr/>
        </p:nvSpPr>
        <p:spPr>
          <a:xfrm>
            <a:off x="0" y="4709160"/>
            <a:ext cx="9144000" cy="434400"/>
          </a:xfrm>
          <a:prstGeom prst="rect">
            <a:avLst/>
          </a:prstGeom>
          <a:solidFill>
            <a:srgbClr val="1A2744"/>
          </a:solidFill>
          <a:ln cap="flat" cmpd="sng" w="12700">
            <a:solidFill>
              <a:srgbClr val="1A2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8"/>
          <p:cNvSpPr/>
          <p:nvPr/>
        </p:nvSpPr>
        <p:spPr>
          <a:xfrm>
            <a:off x="502920" y="4727448"/>
            <a:ext cx="82296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6AD"/>
              </a:buClr>
              <a:buSzPts val="1100"/>
              <a:buFont typeface="Calibri"/>
              <a:buNone/>
            </a:pPr>
            <a:r>
              <a:rPr lang="pl" sz="1100">
                <a:solidFill>
                  <a:srgbClr val="8A96AD"/>
                </a:solidFill>
                <a:latin typeface="Calibri"/>
                <a:ea typeface="Calibri"/>
                <a:cs typeface="Calibri"/>
                <a:sym typeface="Calibri"/>
              </a:rPr>
              <a:t>Objętość kuli k-wymiarowej I</a:t>
            </a:r>
            <a:endParaRPr b="0" i="0" sz="1100" u="none" cap="none" strike="noStrike">
              <a:solidFill>
                <a:schemeClr val="dk1"/>
              </a:solidFill>
              <a:latin typeface="Calibri"/>
              <a:ea typeface="Calibri"/>
              <a:cs typeface="Calibri"/>
              <a:sym typeface="Calibri"/>
            </a:endParaRPr>
          </a:p>
        </p:txBody>
      </p:sp>
      <p:sp>
        <p:nvSpPr>
          <p:cNvPr id="798" name="Google Shape;798;p28"/>
          <p:cNvSpPr txBox="1"/>
          <p:nvPr/>
        </p:nvSpPr>
        <p:spPr>
          <a:xfrm>
            <a:off x="5476838" y="4252025"/>
            <a:ext cx="5917500" cy="7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